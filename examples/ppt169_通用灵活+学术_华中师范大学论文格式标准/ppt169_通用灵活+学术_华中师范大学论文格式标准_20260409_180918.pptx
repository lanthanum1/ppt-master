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本页为封面页，展示华中师范大学研究生学位论文撰写格式标准的主题，适用于硕士和博士研究生。依据 GB/T 7713-1987 和 GB/T 7714-2005。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本页为目录，共 9 个章节：论文基本结构、前置部分要求、摘要与关键词规范、正文撰写规范、图表公式格式、参考文献格式、附录与致谢、排版格式要点、格式检查清单。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华中师范大学学位论文由十二大部分组成：封面、中英文扉页、原创性声明与授权书、中英文摘要、目录、正文、参考文献、附录（如有）、攻读期间发表论著、致谢。页码规则：封面和目录不编页码，摘要用罗马数字，正文起用阿拉伯数字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前置部分包括：封面（单面印刷）、中文扉页（双面）、英文扉页（双面）、原创性声明与授权书（单面，必须亲笔签名）、中文摘要（罗马数字页码）、英文摘要（罗马数字页码）。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中文摘要："摘要"三号黑体加粗居中，中间空两格；正文硕士小四号宋体/博士五号宋体；行距硕士多倍1.25/博士固定19磅；关键词3-8个，分号间隔。英文摘要："Abstract"三号Times New Roman加粗居中；非中文撰写的论文须附中文摘要，博士≥8000字，硕士≥3000字。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一级标题：三号黑体加粗居中，另起一页。二级标题：四号黑体加粗，首行缩进。三级标题：小四号黑体加粗，首行缩进。正文：硕士小四宋体/博士五号宋体，字母数字用Times New Roman，首行缩进两字符。注释采用脚注，每页重新编号。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图：编号图2.1格式，图题在图的下方居中；表：编号表2.1格式，表题在表的上方居中，推荐三线表；公式：另起一行居中，分章节编号，编号在右侧圆括号内，转行在运算符处。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采用顺序编码制，引用序号以上角标方括号形式出现。作者不超过三位全部列出，超过三位列前三位加"等"或"et al"。文献类型标识：[M]专著、[J]期刊、[D]学位论文、[C]会议录等。参考文献标题三号黑体加粗居中，另起一页。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附录可收录公式推导、实验数据、程序代码、攻读期发表论著（博士必须）、阅读型参考文献等，编号为附录A、B、C。致谢位于论文末尾，感谢导师、评阅人、资助单位、家人等，格式与正文相同。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硕士左边距2.8cm，右边距3.0cm，正文小四号宋体，多倍行距1.25，页码居中；博士左右边距均2.9cm，正文五号宋体，固定行距19磅，页码外侧；上下边距相同（上3.9cm，下3.5cm），页眉1.5cm，页脚2.7cm。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提交前逐项核查：封面信息、签名声明、摘要格式、关键词数量、标题层级、图表编号、参考文献格式、页边距、字体字号、页码规则、印刷方式、电子版提交等12项。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F9FC"/>
              </a:gs>
              <a:gs pos="100000">
                <a:srgbClr val="E8F0EC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-381000" y="-381000"/>
            <a:ext cx="2286000" cy="2286000"/>
          </a:xfrm>
          <a:prstGeom prst="ellipse">
            <a:avLst/>
          </a:prstGeom>
          <a:solidFill>
            <a:srgbClr val="1B6B3A">
              <a:alpha val="8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0"/>
            <a:ext cx="1143000" cy="1143000"/>
          </a:xfrm>
          <a:prstGeom prst="ellipse">
            <a:avLst/>
          </a:prstGeom>
          <a:solidFill>
            <a:srgbClr val="1B6B3A">
              <a:alpha val="12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001250" y="4667250"/>
            <a:ext cx="2857500" cy="2857500"/>
          </a:xfrm>
          <a:prstGeom prst="ellipse">
            <a:avLst/>
          </a:prstGeom>
          <a:solidFill>
            <a:srgbClr val="1B6B3A">
              <a:alpha val="8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191750" y="5715000"/>
            <a:ext cx="1524000" cy="1524000"/>
          </a:xfrm>
          <a:prstGeom prst="ellipse">
            <a:avLst/>
          </a:prstGeom>
          <a:solidFill>
            <a:srgbClr val="1B6B3A">
              <a:alpha val="12000"/>
            </a:srgbClr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B6B3A"/>
              </a:gs>
              <a:gs pos="100000">
                <a:srgbClr val="2E8A50"/>
              </a:gs>
            </a:gsLst>
            <a:lin ang="0" scaled="1"/>
          </a:gra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5524500" y="1381125"/>
            <a:ext cx="1143000" cy="762000"/>
            <a:chOff x="5524500" y="1381125"/>
            <a:chExt cx="1143000" cy="762000"/>
          </a:xfrm>
        </p:grpSpPr>
        <p:sp>
          <p:nvSpPr>
            <p:cNvPr id="8" name="Freeform 8"/>
            <p:cNvSpPr/>
            <p:nvPr/>
          </p:nvSpPr>
          <p:spPr>
            <a:xfrm>
              <a:off x="5524500" y="1381125"/>
              <a:ext cx="1143000" cy="762000"/>
            </a:xfrm>
            <a:custGeom>
              <a:avLst/>
              <a:gdLst/>
              <a:ahLst/>
              <a:cxnLst/>
              <a:rect l="l" t="t" r="r" b="b"/>
              <a:pathLst>
                <a:path w="1143000" h="762000">
                  <a:moveTo>
                    <a:pt x="38100" y="0"/>
                  </a:moveTo>
                  <a:lnTo>
                    <a:pt x="1104900" y="0"/>
                  </a:lnTo>
                  <a:cubicBezTo>
                    <a:pt x="1125942" y="0"/>
                    <a:pt x="1143000" y="17058"/>
                    <a:pt x="1143000" y="38100"/>
                  </a:cubicBezTo>
                  <a:lnTo>
                    <a:pt x="1143000" y="723900"/>
                  </a:lnTo>
                  <a:cubicBezTo>
                    <a:pt x="1143000" y="744942"/>
                    <a:pt x="1125942" y="762000"/>
                    <a:pt x="1104900" y="762000"/>
                  </a:cubicBezTo>
                  <a:lnTo>
                    <a:pt x="38100" y="762000"/>
                  </a:lnTo>
                  <a:cubicBezTo>
                    <a:pt x="17058" y="762000"/>
                    <a:pt x="0" y="744942"/>
                    <a:pt x="0" y="723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1B6B3A">
                <a:alpha val="15000"/>
              </a:srgbClr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5619750" y="1476375"/>
              <a:ext cx="952500" cy="571500"/>
            </a:xfrm>
            <a:custGeom>
              <a:avLst/>
              <a:gdLst/>
              <a:ahLst/>
              <a:cxnLst/>
              <a:rect l="l" t="t" r="r" b="b"/>
              <a:pathLst>
                <a:path w="952500" h="571500">
                  <a:moveTo>
                    <a:pt x="19050" y="0"/>
                  </a:moveTo>
                  <a:lnTo>
                    <a:pt x="933450" y="0"/>
                  </a:lnTo>
                  <a:cubicBezTo>
                    <a:pt x="943971" y="0"/>
                    <a:pt x="952500" y="8529"/>
                    <a:pt x="952500" y="19050"/>
                  </a:cubicBezTo>
                  <a:lnTo>
                    <a:pt x="952500" y="552450"/>
                  </a:lnTo>
                  <a:cubicBezTo>
                    <a:pt x="952500" y="562971"/>
                    <a:pt x="943971" y="571500"/>
                    <a:pt x="933450" y="571500"/>
                  </a:cubicBezTo>
                  <a:lnTo>
                    <a:pt x="19050" y="571500"/>
                  </a:lnTo>
                  <a:cubicBezTo>
                    <a:pt x="8529" y="571500"/>
                    <a:pt x="0" y="562971"/>
                    <a:pt x="0" y="5524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B6B3A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5619750" y="1762125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9525">
              <a:solidFill>
                <a:srgbClr val="1B6B3A">
                  <a:alpha val="3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096000" y="1476375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9050">
              <a:solidFill>
                <a:srgbClr val="1B6B3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0" y="1571625"/>
              <a:ext cx="285750" cy="28575"/>
            </a:xfrm>
            <a:prstGeom prst="rect">
              <a:avLst/>
            </a:prstGeom>
            <a:solidFill>
              <a:srgbClr val="1B6B3A">
                <a:alpha val="40000"/>
              </a:srgbClr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0" y="1647825"/>
              <a:ext cx="238125" cy="28575"/>
            </a:xfrm>
            <a:prstGeom prst="rect">
              <a:avLst/>
            </a:prstGeom>
            <a:solidFill>
              <a:srgbClr val="1B6B3A">
                <a:alpha val="30000"/>
              </a:srgbClr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715000" y="1724025"/>
              <a:ext cx="266700" cy="28575"/>
            </a:xfrm>
            <a:prstGeom prst="rect">
              <a:avLst/>
            </a:prstGeom>
            <a:solidFill>
              <a:srgbClr val="1B6B3A">
                <a:alpha val="40000"/>
              </a:srgbClr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191250" y="1571625"/>
              <a:ext cx="285750" cy="28575"/>
            </a:xfrm>
            <a:prstGeom prst="rect">
              <a:avLst/>
            </a:prstGeom>
            <a:solidFill>
              <a:srgbClr val="1B6B3A">
                <a:alpha val="40000"/>
              </a:srgbClr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191250" y="1647825"/>
              <a:ext cx="238125" cy="28575"/>
            </a:xfrm>
            <a:prstGeom prst="rect">
              <a:avLst/>
            </a:prstGeom>
            <a:solidFill>
              <a:srgbClr val="1B6B3A">
                <a:alpha val="30000"/>
              </a:srgbClr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191250" y="1724025"/>
              <a:ext cx="266700" cy="28575"/>
            </a:xfrm>
            <a:prstGeom prst="rect">
              <a:avLst/>
            </a:prstGeom>
            <a:solidFill>
              <a:srgbClr val="1B6B3A">
                <a:alpha val="40000"/>
              </a:srgbClr>
            </a:solidFill>
            <a:ln>
              <a:noFill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2158984" y="2646045"/>
            <a:ext cx="7874032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华中师范大学研究生学位论文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488180" y="3474720"/>
            <a:ext cx="321564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撰写格式标准及要求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050506" y="4048125"/>
            <a:ext cx="409098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依据 GB/T 7713－1987 · GB/T 7714－2005</a:t>
            </a:r>
          </a:p>
        </p:txBody>
      </p:sp>
      <p:sp>
        <p:nvSpPr>
          <p:cNvPr id="22" name="Freeform 22"/>
          <p:cNvSpPr/>
          <p:nvPr/>
        </p:nvSpPr>
        <p:spPr>
          <a:xfrm>
            <a:off x="4191000" y="4572000"/>
            <a:ext cx="3810000" cy="28575"/>
          </a:xfrm>
          <a:custGeom>
            <a:avLst/>
            <a:gdLst/>
            <a:ahLst/>
            <a:cxnLst/>
            <a:rect l="l" t="t" r="r" b="b"/>
            <a:pathLst>
              <a:path w="3810000" h="28575">
                <a:moveTo>
                  <a:pt x="14288" y="0"/>
                </a:moveTo>
                <a:lnTo>
                  <a:pt x="3795712" y="0"/>
                </a:lnTo>
                <a:cubicBezTo>
                  <a:pt x="3803603" y="0"/>
                  <a:pt x="3810000" y="6397"/>
                  <a:pt x="3810000" y="14288"/>
                </a:cubicBezTo>
                <a:lnTo>
                  <a:pt x="3810000" y="14288"/>
                </a:lnTo>
                <a:cubicBezTo>
                  <a:pt x="3810000" y="22178"/>
                  <a:pt x="3803603" y="28575"/>
                  <a:pt x="37957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gradFill>
            <a:gsLst>
              <a:gs pos="0">
                <a:srgbClr val="1B6B3A"/>
              </a:gs>
              <a:gs pos="100000">
                <a:srgbClr val="2E8A50"/>
              </a:gs>
            </a:gsLst>
            <a:lin ang="0" scaled="1"/>
          </a:gra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3895225" y="4997768"/>
            <a:ext cx="44015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适用于学术学位与专业学位研究生（硕士 &amp; 博士）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56487" y="5430202"/>
            <a:ext cx="28790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Central China Normal University · CCNU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949839" y="6522720"/>
            <a:ext cx="2923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Arial"/>
                <a:ea typeface="Microsoft YaHei"/>
                <a:cs typeface="Arial"/>
              </a:rPr>
              <a:t>1 / 11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F9FC"/>
              </a:gs>
              <a:gs pos="100000">
                <a:srgbClr val="EDF2F7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B6B3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5550" y="375285"/>
            <a:ext cx="102089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目 录</a:t>
            </a:r>
          </a:p>
        </p:txBody>
      </p:sp>
      <p:sp>
        <p:nvSpPr>
          <p:cNvPr id="5" name="Freeform 5"/>
          <p:cNvSpPr/>
          <p:nvPr/>
        </p:nvSpPr>
        <p:spPr>
          <a:xfrm>
            <a:off x="5524500" y="809625"/>
            <a:ext cx="1143000" cy="28575"/>
          </a:xfrm>
          <a:custGeom>
            <a:avLst/>
            <a:gdLst/>
            <a:ahLst/>
            <a:cxnLst/>
            <a:rect l="l" t="t" r="r" b="b"/>
            <a:pathLst>
              <a:path w="1143000" h="28575">
                <a:moveTo>
                  <a:pt x="14288" y="0"/>
                </a:moveTo>
                <a:lnTo>
                  <a:pt x="1128712" y="0"/>
                </a:lnTo>
                <a:cubicBezTo>
                  <a:pt x="1136603" y="0"/>
                  <a:pt x="1143000" y="6397"/>
                  <a:pt x="1143000" y="14288"/>
                </a:cubicBezTo>
                <a:lnTo>
                  <a:pt x="1143000" y="14288"/>
                </a:lnTo>
                <a:cubicBezTo>
                  <a:pt x="1143000" y="22178"/>
                  <a:pt x="1136603" y="28575"/>
                  <a:pt x="11287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D4A017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762000" y="1143000"/>
            <a:ext cx="4933950" cy="666750"/>
            <a:chOff x="762000" y="1143000"/>
            <a:chExt cx="4933950" cy="666750"/>
          </a:xfrm>
        </p:grpSpPr>
        <p:sp>
          <p:nvSpPr>
            <p:cNvPr id="6" name="Freeform 6"/>
            <p:cNvSpPr/>
            <p:nvPr/>
          </p:nvSpPr>
          <p:spPr>
            <a:xfrm>
              <a:off x="762000" y="1143000"/>
              <a:ext cx="4933950" cy="666750"/>
            </a:xfrm>
            <a:custGeom>
              <a:avLst/>
              <a:gdLst/>
              <a:ahLst/>
              <a:cxnLst/>
              <a:rect l="l" t="t" r="r" b="b"/>
              <a:pathLst>
                <a:path w="4933950" h="666750">
                  <a:moveTo>
                    <a:pt x="76200" y="0"/>
                  </a:moveTo>
                  <a:lnTo>
                    <a:pt x="4857750" y="0"/>
                  </a:lnTo>
                  <a:cubicBezTo>
                    <a:pt x="4899834" y="0"/>
                    <a:pt x="4933950" y="34116"/>
                    <a:pt x="4933950" y="76200"/>
                  </a:cubicBezTo>
                  <a:lnTo>
                    <a:pt x="4933950" y="590550"/>
                  </a:lnTo>
                  <a:cubicBezTo>
                    <a:pt x="4933950" y="632634"/>
                    <a:pt x="4899834" y="666750"/>
                    <a:pt x="4857750" y="666750"/>
                  </a:cubicBezTo>
                  <a:lnTo>
                    <a:pt x="76200" y="666750"/>
                  </a:lnTo>
                  <a:cubicBezTo>
                    <a:pt x="34116" y="666750"/>
                    <a:pt x="0" y="632634"/>
                    <a:pt x="0" y="590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952500" y="1285875"/>
              <a:ext cx="381000" cy="381000"/>
            </a:xfrm>
            <a:prstGeom prst="ellipse">
              <a:avLst/>
            </a:prstGeom>
            <a:solidFill>
              <a:srgbClr val="1B6B3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7869" y="1397318"/>
              <a:ext cx="2102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06855" y="12830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论文基本结构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10665" y="152495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十二大组成部分概览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952625"/>
            <a:ext cx="4933950" cy="666750"/>
            <a:chOff x="762000" y="1952625"/>
            <a:chExt cx="4933950" cy="666750"/>
          </a:xfrm>
        </p:grpSpPr>
        <p:sp>
          <p:nvSpPr>
            <p:cNvPr id="12" name="Freeform 12"/>
            <p:cNvSpPr/>
            <p:nvPr/>
          </p:nvSpPr>
          <p:spPr>
            <a:xfrm>
              <a:off x="762000" y="1952625"/>
              <a:ext cx="4933950" cy="666750"/>
            </a:xfrm>
            <a:custGeom>
              <a:avLst/>
              <a:gdLst/>
              <a:ahLst/>
              <a:cxnLst/>
              <a:rect l="l" t="t" r="r" b="b"/>
              <a:pathLst>
                <a:path w="4933950" h="666750">
                  <a:moveTo>
                    <a:pt x="76200" y="0"/>
                  </a:moveTo>
                  <a:lnTo>
                    <a:pt x="4857750" y="0"/>
                  </a:lnTo>
                  <a:cubicBezTo>
                    <a:pt x="4899834" y="0"/>
                    <a:pt x="4933950" y="34116"/>
                    <a:pt x="4933950" y="76200"/>
                  </a:cubicBezTo>
                  <a:lnTo>
                    <a:pt x="4933950" y="590550"/>
                  </a:lnTo>
                  <a:cubicBezTo>
                    <a:pt x="4933950" y="632634"/>
                    <a:pt x="4899834" y="666750"/>
                    <a:pt x="4857750" y="666750"/>
                  </a:cubicBezTo>
                  <a:lnTo>
                    <a:pt x="76200" y="666750"/>
                  </a:lnTo>
                  <a:cubicBezTo>
                    <a:pt x="34116" y="666750"/>
                    <a:pt x="0" y="632634"/>
                    <a:pt x="0" y="590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952500" y="2095500"/>
              <a:ext cx="381000" cy="381000"/>
            </a:xfrm>
            <a:prstGeom prst="ellipse">
              <a:avLst/>
            </a:prstGeom>
            <a:solidFill>
              <a:srgbClr val="1B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11991" y="220694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06855" y="2092642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前置部分要求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10665" y="2334578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封面、扉页、声明、摘要、目录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2762250"/>
            <a:ext cx="4933950" cy="666750"/>
            <a:chOff x="762000" y="2762250"/>
            <a:chExt cx="4933950" cy="666750"/>
          </a:xfrm>
        </p:grpSpPr>
        <p:sp>
          <p:nvSpPr>
            <p:cNvPr id="18" name="Freeform 18"/>
            <p:cNvSpPr/>
            <p:nvPr/>
          </p:nvSpPr>
          <p:spPr>
            <a:xfrm>
              <a:off x="762000" y="2762250"/>
              <a:ext cx="4933950" cy="666750"/>
            </a:xfrm>
            <a:custGeom>
              <a:avLst/>
              <a:gdLst/>
              <a:ahLst/>
              <a:cxnLst/>
              <a:rect l="l" t="t" r="r" b="b"/>
              <a:pathLst>
                <a:path w="4933950" h="666750">
                  <a:moveTo>
                    <a:pt x="76200" y="0"/>
                  </a:moveTo>
                  <a:lnTo>
                    <a:pt x="4857750" y="0"/>
                  </a:lnTo>
                  <a:cubicBezTo>
                    <a:pt x="4899834" y="0"/>
                    <a:pt x="4933950" y="34116"/>
                    <a:pt x="4933950" y="76200"/>
                  </a:cubicBezTo>
                  <a:lnTo>
                    <a:pt x="4933950" y="590550"/>
                  </a:lnTo>
                  <a:cubicBezTo>
                    <a:pt x="4933950" y="632634"/>
                    <a:pt x="4899834" y="666750"/>
                    <a:pt x="4857750" y="666750"/>
                  </a:cubicBezTo>
                  <a:lnTo>
                    <a:pt x="76200" y="666750"/>
                  </a:lnTo>
                  <a:cubicBezTo>
                    <a:pt x="34116" y="666750"/>
                    <a:pt x="0" y="632634"/>
                    <a:pt x="0" y="590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952500" y="2905125"/>
              <a:ext cx="381000" cy="381000"/>
            </a:xfrm>
            <a:prstGeom prst="ellipse">
              <a:avLst/>
            </a:prstGeom>
            <a:solidFill>
              <a:srgbClr val="1B6B3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11991" y="3016568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06855" y="2902268"/>
              <a:ext cx="16904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摘要与关键词规范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10665" y="314420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中英文摘要字体字号要求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62000" y="3571875"/>
            <a:ext cx="4933950" cy="666750"/>
            <a:chOff x="762000" y="3571875"/>
            <a:chExt cx="4933950" cy="666750"/>
          </a:xfrm>
        </p:grpSpPr>
        <p:sp>
          <p:nvSpPr>
            <p:cNvPr id="24" name="Freeform 24"/>
            <p:cNvSpPr/>
            <p:nvPr/>
          </p:nvSpPr>
          <p:spPr>
            <a:xfrm>
              <a:off x="762000" y="3571875"/>
              <a:ext cx="4933950" cy="666750"/>
            </a:xfrm>
            <a:custGeom>
              <a:avLst/>
              <a:gdLst/>
              <a:ahLst/>
              <a:cxnLst/>
              <a:rect l="l" t="t" r="r" b="b"/>
              <a:pathLst>
                <a:path w="4933950" h="666750">
                  <a:moveTo>
                    <a:pt x="76200" y="0"/>
                  </a:moveTo>
                  <a:lnTo>
                    <a:pt x="4857750" y="0"/>
                  </a:lnTo>
                  <a:cubicBezTo>
                    <a:pt x="4899834" y="0"/>
                    <a:pt x="4933950" y="34116"/>
                    <a:pt x="4933950" y="76200"/>
                  </a:cubicBezTo>
                  <a:lnTo>
                    <a:pt x="4933950" y="590550"/>
                  </a:lnTo>
                  <a:cubicBezTo>
                    <a:pt x="4933950" y="632634"/>
                    <a:pt x="4899834" y="666750"/>
                    <a:pt x="4857750" y="666750"/>
                  </a:cubicBezTo>
                  <a:lnTo>
                    <a:pt x="76200" y="666750"/>
                  </a:lnTo>
                  <a:cubicBezTo>
                    <a:pt x="34116" y="666750"/>
                    <a:pt x="0" y="632634"/>
                    <a:pt x="0" y="590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952500" y="3714750"/>
              <a:ext cx="381000" cy="381000"/>
            </a:xfrm>
            <a:prstGeom prst="ellipse">
              <a:avLst/>
            </a:prstGeom>
            <a:solidFill>
              <a:srgbClr val="1B6B3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11991" y="382619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06855" y="3711892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正文撰写规范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10665" y="3953828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标题层级与字体格式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62000" y="4381500"/>
            <a:ext cx="4933950" cy="666750"/>
            <a:chOff x="762000" y="4381500"/>
            <a:chExt cx="4933950" cy="666750"/>
          </a:xfrm>
        </p:grpSpPr>
        <p:sp>
          <p:nvSpPr>
            <p:cNvPr id="30" name="Freeform 30"/>
            <p:cNvSpPr/>
            <p:nvPr/>
          </p:nvSpPr>
          <p:spPr>
            <a:xfrm>
              <a:off x="762000" y="4381500"/>
              <a:ext cx="4933950" cy="666750"/>
            </a:xfrm>
            <a:custGeom>
              <a:avLst/>
              <a:gdLst/>
              <a:ahLst/>
              <a:cxnLst/>
              <a:rect l="l" t="t" r="r" b="b"/>
              <a:pathLst>
                <a:path w="4933950" h="666750">
                  <a:moveTo>
                    <a:pt x="76200" y="0"/>
                  </a:moveTo>
                  <a:lnTo>
                    <a:pt x="4857750" y="0"/>
                  </a:lnTo>
                  <a:cubicBezTo>
                    <a:pt x="4899834" y="0"/>
                    <a:pt x="4933950" y="34116"/>
                    <a:pt x="4933950" y="76200"/>
                  </a:cubicBezTo>
                  <a:lnTo>
                    <a:pt x="4933950" y="590550"/>
                  </a:lnTo>
                  <a:cubicBezTo>
                    <a:pt x="4933950" y="632634"/>
                    <a:pt x="4899834" y="666750"/>
                    <a:pt x="4857750" y="666750"/>
                  </a:cubicBezTo>
                  <a:lnTo>
                    <a:pt x="76200" y="666750"/>
                  </a:lnTo>
                  <a:cubicBezTo>
                    <a:pt x="34116" y="666750"/>
                    <a:pt x="0" y="632634"/>
                    <a:pt x="0" y="590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952500" y="4524375"/>
              <a:ext cx="381000" cy="381000"/>
            </a:xfrm>
            <a:prstGeom prst="ellipse">
              <a:avLst/>
            </a:prstGeom>
            <a:solidFill>
              <a:srgbClr val="2E8A5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11991" y="4635818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06855" y="45215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图表公式格式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10665" y="476345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图题、表题、公式编号规则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477000" y="1143000"/>
            <a:ext cx="4933950" cy="666750"/>
            <a:chOff x="6477000" y="1143000"/>
            <a:chExt cx="4933950" cy="666750"/>
          </a:xfrm>
        </p:grpSpPr>
        <p:sp>
          <p:nvSpPr>
            <p:cNvPr id="36" name="Freeform 36"/>
            <p:cNvSpPr/>
            <p:nvPr/>
          </p:nvSpPr>
          <p:spPr>
            <a:xfrm>
              <a:off x="6477000" y="1143000"/>
              <a:ext cx="4933950" cy="666750"/>
            </a:xfrm>
            <a:custGeom>
              <a:avLst/>
              <a:gdLst/>
              <a:ahLst/>
              <a:cxnLst/>
              <a:rect l="l" t="t" r="r" b="b"/>
              <a:pathLst>
                <a:path w="4933950" h="666750">
                  <a:moveTo>
                    <a:pt x="76200" y="0"/>
                  </a:moveTo>
                  <a:lnTo>
                    <a:pt x="4857750" y="0"/>
                  </a:lnTo>
                  <a:cubicBezTo>
                    <a:pt x="4899834" y="0"/>
                    <a:pt x="4933950" y="34116"/>
                    <a:pt x="4933950" y="76200"/>
                  </a:cubicBezTo>
                  <a:lnTo>
                    <a:pt x="4933950" y="590550"/>
                  </a:lnTo>
                  <a:cubicBezTo>
                    <a:pt x="4933950" y="632634"/>
                    <a:pt x="4899834" y="666750"/>
                    <a:pt x="4857750" y="666750"/>
                  </a:cubicBezTo>
                  <a:lnTo>
                    <a:pt x="76200" y="666750"/>
                  </a:lnTo>
                  <a:cubicBezTo>
                    <a:pt x="34116" y="666750"/>
                    <a:pt x="0" y="632634"/>
                    <a:pt x="0" y="590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6667500" y="1285875"/>
              <a:ext cx="381000" cy="381000"/>
            </a:xfrm>
            <a:prstGeom prst="ellipse">
              <a:avLst/>
            </a:prstGeom>
            <a:solidFill>
              <a:srgbClr val="2E8A5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26991" y="1397318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21855" y="12830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参考文献格式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25665" y="152495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顺序编码制著录规范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477000" y="1952625"/>
            <a:ext cx="4933950" cy="666750"/>
            <a:chOff x="6477000" y="1952625"/>
            <a:chExt cx="4933950" cy="666750"/>
          </a:xfrm>
        </p:grpSpPr>
        <p:sp>
          <p:nvSpPr>
            <p:cNvPr id="42" name="Freeform 42"/>
            <p:cNvSpPr/>
            <p:nvPr/>
          </p:nvSpPr>
          <p:spPr>
            <a:xfrm>
              <a:off x="6477000" y="1952625"/>
              <a:ext cx="4933950" cy="666750"/>
            </a:xfrm>
            <a:custGeom>
              <a:avLst/>
              <a:gdLst/>
              <a:ahLst/>
              <a:cxnLst/>
              <a:rect l="l" t="t" r="r" b="b"/>
              <a:pathLst>
                <a:path w="4933950" h="666750">
                  <a:moveTo>
                    <a:pt x="76200" y="0"/>
                  </a:moveTo>
                  <a:lnTo>
                    <a:pt x="4857750" y="0"/>
                  </a:lnTo>
                  <a:cubicBezTo>
                    <a:pt x="4899834" y="0"/>
                    <a:pt x="4933950" y="34116"/>
                    <a:pt x="4933950" y="76200"/>
                  </a:cubicBezTo>
                  <a:lnTo>
                    <a:pt x="4933950" y="590550"/>
                  </a:lnTo>
                  <a:cubicBezTo>
                    <a:pt x="4933950" y="632634"/>
                    <a:pt x="4899834" y="666750"/>
                    <a:pt x="4857750" y="666750"/>
                  </a:cubicBezTo>
                  <a:lnTo>
                    <a:pt x="76200" y="666750"/>
                  </a:lnTo>
                  <a:cubicBezTo>
                    <a:pt x="34116" y="666750"/>
                    <a:pt x="0" y="632634"/>
                    <a:pt x="0" y="590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6667500" y="2095500"/>
              <a:ext cx="381000" cy="381000"/>
            </a:xfrm>
            <a:prstGeom prst="ellipse">
              <a:avLst/>
            </a:prstGeom>
            <a:solidFill>
              <a:srgbClr val="2E8A5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26991" y="220694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21855" y="2092642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附录与致谢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25665" y="233457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附录内容与致谢撰写规范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477000" y="2762250"/>
            <a:ext cx="4933950" cy="666750"/>
            <a:chOff x="6477000" y="2762250"/>
            <a:chExt cx="4933950" cy="666750"/>
          </a:xfrm>
        </p:grpSpPr>
        <p:sp>
          <p:nvSpPr>
            <p:cNvPr id="48" name="Freeform 48"/>
            <p:cNvSpPr/>
            <p:nvPr/>
          </p:nvSpPr>
          <p:spPr>
            <a:xfrm>
              <a:off x="6477000" y="2762250"/>
              <a:ext cx="4933950" cy="666750"/>
            </a:xfrm>
            <a:custGeom>
              <a:avLst/>
              <a:gdLst/>
              <a:ahLst/>
              <a:cxnLst/>
              <a:rect l="l" t="t" r="r" b="b"/>
              <a:pathLst>
                <a:path w="4933950" h="666750">
                  <a:moveTo>
                    <a:pt x="76200" y="0"/>
                  </a:moveTo>
                  <a:lnTo>
                    <a:pt x="4857750" y="0"/>
                  </a:lnTo>
                  <a:cubicBezTo>
                    <a:pt x="4899834" y="0"/>
                    <a:pt x="4933950" y="34116"/>
                    <a:pt x="4933950" y="76200"/>
                  </a:cubicBezTo>
                  <a:lnTo>
                    <a:pt x="4933950" y="590550"/>
                  </a:lnTo>
                  <a:cubicBezTo>
                    <a:pt x="4933950" y="632634"/>
                    <a:pt x="4899834" y="666750"/>
                    <a:pt x="4857750" y="666750"/>
                  </a:cubicBezTo>
                  <a:lnTo>
                    <a:pt x="76200" y="666750"/>
                  </a:lnTo>
                  <a:cubicBezTo>
                    <a:pt x="34116" y="666750"/>
                    <a:pt x="0" y="632634"/>
                    <a:pt x="0" y="590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6667500" y="2905125"/>
              <a:ext cx="381000" cy="381000"/>
            </a:xfrm>
            <a:prstGeom prst="ellipse">
              <a:avLst/>
            </a:prstGeom>
            <a:solidFill>
              <a:srgbClr val="2E8A5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26991" y="3016568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08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221855" y="29022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排版格式要点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25665" y="314420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页面设置与排版参数对比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477000" y="3571875"/>
            <a:ext cx="4933950" cy="666750"/>
            <a:chOff x="6477000" y="3571875"/>
            <a:chExt cx="4933950" cy="666750"/>
          </a:xfrm>
        </p:grpSpPr>
        <p:sp>
          <p:nvSpPr>
            <p:cNvPr id="54" name="Freeform 54"/>
            <p:cNvSpPr/>
            <p:nvPr/>
          </p:nvSpPr>
          <p:spPr>
            <a:xfrm>
              <a:off x="6477000" y="3571875"/>
              <a:ext cx="4933950" cy="666750"/>
            </a:xfrm>
            <a:custGeom>
              <a:avLst/>
              <a:gdLst/>
              <a:ahLst/>
              <a:cxnLst/>
              <a:rect l="l" t="t" r="r" b="b"/>
              <a:pathLst>
                <a:path w="4933950" h="666750">
                  <a:moveTo>
                    <a:pt x="76200" y="0"/>
                  </a:moveTo>
                  <a:lnTo>
                    <a:pt x="4857750" y="0"/>
                  </a:lnTo>
                  <a:cubicBezTo>
                    <a:pt x="4899834" y="0"/>
                    <a:pt x="4933950" y="34116"/>
                    <a:pt x="4933950" y="76200"/>
                  </a:cubicBezTo>
                  <a:lnTo>
                    <a:pt x="4933950" y="590550"/>
                  </a:lnTo>
                  <a:cubicBezTo>
                    <a:pt x="4933950" y="632634"/>
                    <a:pt x="4899834" y="666750"/>
                    <a:pt x="4857750" y="666750"/>
                  </a:cubicBezTo>
                  <a:lnTo>
                    <a:pt x="76200" y="666750"/>
                  </a:lnTo>
                  <a:cubicBezTo>
                    <a:pt x="34116" y="666750"/>
                    <a:pt x="0" y="632634"/>
                    <a:pt x="0" y="590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6667500" y="3714750"/>
              <a:ext cx="381000" cy="381000"/>
            </a:xfrm>
            <a:prstGeom prst="ellipse">
              <a:avLst/>
            </a:prstGeom>
            <a:solidFill>
              <a:srgbClr val="2E8A50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26991" y="382619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09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221855" y="3711892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格式检查清单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225665" y="3953828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论文提交前自检要点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477000" y="4381500"/>
            <a:ext cx="4933950" cy="666750"/>
            <a:chOff x="6477000" y="4381500"/>
            <a:chExt cx="4933950" cy="666750"/>
          </a:xfrm>
        </p:grpSpPr>
        <p:sp>
          <p:nvSpPr>
            <p:cNvPr id="60" name="Freeform 60"/>
            <p:cNvSpPr/>
            <p:nvPr/>
          </p:nvSpPr>
          <p:spPr>
            <a:xfrm>
              <a:off x="6477000" y="4381500"/>
              <a:ext cx="4933950" cy="666750"/>
            </a:xfrm>
            <a:custGeom>
              <a:avLst/>
              <a:gdLst/>
              <a:ahLst/>
              <a:cxnLst/>
              <a:rect l="l" t="t" r="r" b="b"/>
              <a:pathLst>
                <a:path w="4933950" h="666750">
                  <a:moveTo>
                    <a:pt x="76200" y="0"/>
                  </a:moveTo>
                  <a:lnTo>
                    <a:pt x="4857750" y="0"/>
                  </a:lnTo>
                  <a:cubicBezTo>
                    <a:pt x="4899834" y="0"/>
                    <a:pt x="4933950" y="34116"/>
                    <a:pt x="4933950" y="76200"/>
                  </a:cubicBezTo>
                  <a:lnTo>
                    <a:pt x="4933950" y="590550"/>
                  </a:lnTo>
                  <a:cubicBezTo>
                    <a:pt x="4933950" y="632634"/>
                    <a:pt x="4899834" y="666750"/>
                    <a:pt x="4857750" y="666750"/>
                  </a:cubicBezTo>
                  <a:lnTo>
                    <a:pt x="76200" y="666750"/>
                  </a:lnTo>
                  <a:cubicBezTo>
                    <a:pt x="34116" y="666750"/>
                    <a:pt x="0" y="632634"/>
                    <a:pt x="0" y="590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B6B3A">
                <a:alpha val="10000"/>
              </a:srgbClr>
            </a:solidFill>
            <a:ln w="9525">
              <a:solidFill>
                <a:srgbClr val="1B6B3A">
                  <a:alpha val="10000"/>
                </a:srgbClr>
              </a:solidFill>
              <a:custDash>
                <a:ds d="400000" sp="200000"/>
              </a:custDash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753475" y="4537710"/>
              <a:ext cx="3810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B6B3A"/>
                  </a:solidFill>
                  <a:latin typeface="Segoe UI"/>
                  <a:ea typeface="Microsoft YaHei"/>
                  <a:cs typeface="Segoe UI"/>
                </a:rPr>
                <a:t>提示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010525" y="476345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建议结合学院最新通知使用</a:t>
              </a:r>
            </a:p>
          </p:txBody>
        </p:sp>
      </p:grpSp>
      <p:sp>
        <p:nvSpPr>
          <p:cNvPr id="64" name="Rectangle 64"/>
          <p:cNvSpPr/>
          <p:nvPr/>
        </p:nvSpPr>
        <p:spPr>
          <a:xfrm>
            <a:off x="571500" y="57150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941070" y="6379845"/>
            <a:ext cx="25203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华中师范大学研究生学位论文撰写格式标准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933408" y="6522720"/>
            <a:ext cx="3251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Arial"/>
                <a:ea typeface="Microsoft YaHei"/>
                <a:cs typeface="Arial"/>
              </a:rPr>
              <a:t>2 / 11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B6B3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593336" y="293370"/>
            <a:ext cx="30053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论文基本结构概览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227385" y="670560"/>
            <a:ext cx="37372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华中师范大学研究生学位论文 · 十二大组成部分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71500" y="1095375"/>
            <a:ext cx="2095500" cy="1238250"/>
            <a:chOff x="571500" y="1095375"/>
            <a:chExt cx="2095500" cy="1238250"/>
          </a:xfrm>
        </p:grpSpPr>
        <p:sp>
          <p:nvSpPr>
            <p:cNvPr id="6" name="Freeform 6"/>
            <p:cNvSpPr/>
            <p:nvPr/>
          </p:nvSpPr>
          <p:spPr>
            <a:xfrm>
              <a:off x="571500" y="1095375"/>
              <a:ext cx="2095500" cy="1238250"/>
            </a:xfrm>
            <a:custGeom>
              <a:avLst/>
              <a:gdLst/>
              <a:ahLst/>
              <a:cxnLst/>
              <a:rect l="l" t="t" r="r" b="b"/>
              <a:pathLst>
                <a:path w="2095500" h="1238250">
                  <a:moveTo>
                    <a:pt x="76200" y="0"/>
                  </a:moveTo>
                  <a:lnTo>
                    <a:pt x="2019300" y="0"/>
                  </a:lnTo>
                  <a:cubicBezTo>
                    <a:pt x="2061384" y="0"/>
                    <a:pt x="2095500" y="34116"/>
                    <a:pt x="2095500" y="76200"/>
                  </a:cubicBezTo>
                  <a:lnTo>
                    <a:pt x="2095500" y="1162050"/>
                  </a:lnTo>
                  <a:cubicBezTo>
                    <a:pt x="2095500" y="1204134"/>
                    <a:pt x="2061384" y="1238250"/>
                    <a:pt x="20193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095375"/>
              <a:ext cx="2095500" cy="57150"/>
            </a:xfrm>
            <a:custGeom>
              <a:avLst/>
              <a:gdLst/>
              <a:ahLst/>
              <a:cxnLst/>
              <a:rect l="l" t="t" r="r" b="b"/>
              <a:pathLst>
                <a:path w="2095500" h="57150">
                  <a:moveTo>
                    <a:pt x="28575" y="0"/>
                  </a:moveTo>
                  <a:lnTo>
                    <a:pt x="2066925" y="0"/>
                  </a:lnTo>
                  <a:cubicBezTo>
                    <a:pt x="2082707" y="0"/>
                    <a:pt x="2095500" y="12793"/>
                    <a:pt x="2095500" y="28575"/>
                  </a:cubicBezTo>
                  <a:lnTo>
                    <a:pt x="2095500" y="28575"/>
                  </a:lnTo>
                  <a:cubicBezTo>
                    <a:pt x="2095500" y="44357"/>
                    <a:pt x="2082707" y="57150"/>
                    <a:pt x="20669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B6B3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685800" y="1352550"/>
              <a:ext cx="342900" cy="342900"/>
            </a:xfrm>
            <a:prstGeom prst="ellipse">
              <a:avLst/>
            </a:prstGeom>
            <a:solidFill>
              <a:srgbClr val="1B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3800" y="1451610"/>
              <a:ext cx="186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855" y="1330642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封面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92468" y="170449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学校、题目、作者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92468" y="189499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导师、日期、密级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93420" y="2122170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0AEC0"/>
                  </a:solidFill>
                  <a:latin typeface="Segoe UI"/>
                  <a:ea typeface="Microsoft YaHei"/>
                  <a:cs typeface="Segoe UI"/>
                </a:rPr>
                <a:t>单面印刷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57500" y="1095375"/>
            <a:ext cx="2095500" cy="1238250"/>
            <a:chOff x="2857500" y="1095375"/>
            <a:chExt cx="2095500" cy="1238250"/>
          </a:xfrm>
        </p:grpSpPr>
        <p:sp>
          <p:nvSpPr>
            <p:cNvPr id="15" name="Freeform 15"/>
            <p:cNvSpPr/>
            <p:nvPr/>
          </p:nvSpPr>
          <p:spPr>
            <a:xfrm>
              <a:off x="2857500" y="1095375"/>
              <a:ext cx="2095500" cy="1238250"/>
            </a:xfrm>
            <a:custGeom>
              <a:avLst/>
              <a:gdLst/>
              <a:ahLst/>
              <a:cxnLst/>
              <a:rect l="l" t="t" r="r" b="b"/>
              <a:pathLst>
                <a:path w="2095500" h="1238250">
                  <a:moveTo>
                    <a:pt x="76200" y="0"/>
                  </a:moveTo>
                  <a:lnTo>
                    <a:pt x="2019300" y="0"/>
                  </a:lnTo>
                  <a:cubicBezTo>
                    <a:pt x="2061384" y="0"/>
                    <a:pt x="2095500" y="34116"/>
                    <a:pt x="2095500" y="76200"/>
                  </a:cubicBezTo>
                  <a:lnTo>
                    <a:pt x="2095500" y="1162050"/>
                  </a:lnTo>
                  <a:cubicBezTo>
                    <a:pt x="2095500" y="1204134"/>
                    <a:pt x="2061384" y="1238250"/>
                    <a:pt x="20193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857500" y="1095375"/>
              <a:ext cx="2095500" cy="57150"/>
            </a:xfrm>
            <a:custGeom>
              <a:avLst/>
              <a:gdLst/>
              <a:ahLst/>
              <a:cxnLst/>
              <a:rect l="l" t="t" r="r" b="b"/>
              <a:pathLst>
                <a:path w="2095500" h="57150">
                  <a:moveTo>
                    <a:pt x="28575" y="0"/>
                  </a:moveTo>
                  <a:lnTo>
                    <a:pt x="2066925" y="0"/>
                  </a:lnTo>
                  <a:cubicBezTo>
                    <a:pt x="2082707" y="0"/>
                    <a:pt x="2095500" y="12793"/>
                    <a:pt x="2095500" y="28575"/>
                  </a:cubicBezTo>
                  <a:lnTo>
                    <a:pt x="2095500" y="28575"/>
                  </a:lnTo>
                  <a:cubicBezTo>
                    <a:pt x="2095500" y="44357"/>
                    <a:pt x="2082707" y="57150"/>
                    <a:pt x="20669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B6B3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2971800" y="1352550"/>
              <a:ext cx="342900" cy="342900"/>
            </a:xfrm>
            <a:prstGeom prst="ellipse">
              <a:avLst/>
            </a:prstGeom>
            <a:solidFill>
              <a:srgbClr val="1B6B3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026797" y="1451610"/>
              <a:ext cx="2329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11855" y="1330642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中英文扉页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78468" y="170449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中文版题名页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78468" y="189499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英文版题名页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79420" y="2122170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0AEC0"/>
                  </a:solidFill>
                  <a:latin typeface="Segoe UI"/>
                  <a:ea typeface="Microsoft YaHei"/>
                  <a:cs typeface="Segoe UI"/>
                </a:rPr>
                <a:t>双面印刷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143500" y="1095375"/>
            <a:ext cx="2095500" cy="1238250"/>
            <a:chOff x="5143500" y="1095375"/>
            <a:chExt cx="2095500" cy="1238250"/>
          </a:xfrm>
        </p:grpSpPr>
        <p:sp>
          <p:nvSpPr>
            <p:cNvPr id="24" name="Freeform 24"/>
            <p:cNvSpPr/>
            <p:nvPr/>
          </p:nvSpPr>
          <p:spPr>
            <a:xfrm>
              <a:off x="5143500" y="1095375"/>
              <a:ext cx="2095500" cy="1238250"/>
            </a:xfrm>
            <a:custGeom>
              <a:avLst/>
              <a:gdLst/>
              <a:ahLst/>
              <a:cxnLst/>
              <a:rect l="l" t="t" r="r" b="b"/>
              <a:pathLst>
                <a:path w="2095500" h="1238250">
                  <a:moveTo>
                    <a:pt x="76200" y="0"/>
                  </a:moveTo>
                  <a:lnTo>
                    <a:pt x="2019300" y="0"/>
                  </a:lnTo>
                  <a:cubicBezTo>
                    <a:pt x="2061384" y="0"/>
                    <a:pt x="2095500" y="34116"/>
                    <a:pt x="2095500" y="76200"/>
                  </a:cubicBezTo>
                  <a:lnTo>
                    <a:pt x="2095500" y="1162050"/>
                  </a:lnTo>
                  <a:cubicBezTo>
                    <a:pt x="2095500" y="1204134"/>
                    <a:pt x="2061384" y="1238250"/>
                    <a:pt x="20193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5143500" y="1095375"/>
              <a:ext cx="2095500" cy="57150"/>
            </a:xfrm>
            <a:custGeom>
              <a:avLst/>
              <a:gdLst/>
              <a:ahLst/>
              <a:cxnLst/>
              <a:rect l="l" t="t" r="r" b="b"/>
              <a:pathLst>
                <a:path w="2095500" h="57150">
                  <a:moveTo>
                    <a:pt x="28575" y="0"/>
                  </a:moveTo>
                  <a:lnTo>
                    <a:pt x="2066925" y="0"/>
                  </a:lnTo>
                  <a:cubicBezTo>
                    <a:pt x="2082707" y="0"/>
                    <a:pt x="2095500" y="12793"/>
                    <a:pt x="2095500" y="28575"/>
                  </a:cubicBezTo>
                  <a:lnTo>
                    <a:pt x="2095500" y="28575"/>
                  </a:lnTo>
                  <a:cubicBezTo>
                    <a:pt x="2095500" y="44357"/>
                    <a:pt x="2082707" y="57150"/>
                    <a:pt x="20669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D4A017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5257800" y="1352550"/>
              <a:ext cx="342900" cy="342900"/>
            </a:xfrm>
            <a:prstGeom prst="ellipse">
              <a:avLst/>
            </a:prstGeom>
            <a:solidFill>
              <a:srgbClr val="D4A01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312797" y="1451610"/>
              <a:ext cx="2329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97855" y="1330642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原创性声明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64468" y="1704499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原创性声明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64468" y="189499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使用授权说明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65420" y="2122170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53E3E"/>
                  </a:solidFill>
                  <a:latin typeface="Segoe UI"/>
                  <a:ea typeface="Microsoft YaHei"/>
                  <a:cs typeface="Segoe UI"/>
                </a:rPr>
                <a:t>需亲笔签名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429500" y="1095375"/>
            <a:ext cx="2095500" cy="1238250"/>
            <a:chOff x="7429500" y="1095375"/>
            <a:chExt cx="2095500" cy="1238250"/>
          </a:xfrm>
        </p:grpSpPr>
        <p:sp>
          <p:nvSpPr>
            <p:cNvPr id="33" name="Freeform 33"/>
            <p:cNvSpPr/>
            <p:nvPr/>
          </p:nvSpPr>
          <p:spPr>
            <a:xfrm>
              <a:off x="7429500" y="1095375"/>
              <a:ext cx="2095500" cy="1238250"/>
            </a:xfrm>
            <a:custGeom>
              <a:avLst/>
              <a:gdLst/>
              <a:ahLst/>
              <a:cxnLst/>
              <a:rect l="l" t="t" r="r" b="b"/>
              <a:pathLst>
                <a:path w="2095500" h="1238250">
                  <a:moveTo>
                    <a:pt x="76200" y="0"/>
                  </a:moveTo>
                  <a:lnTo>
                    <a:pt x="2019300" y="0"/>
                  </a:lnTo>
                  <a:cubicBezTo>
                    <a:pt x="2061384" y="0"/>
                    <a:pt x="2095500" y="34116"/>
                    <a:pt x="2095500" y="76200"/>
                  </a:cubicBezTo>
                  <a:lnTo>
                    <a:pt x="2095500" y="1162050"/>
                  </a:lnTo>
                  <a:cubicBezTo>
                    <a:pt x="2095500" y="1204134"/>
                    <a:pt x="2061384" y="1238250"/>
                    <a:pt x="20193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429500" y="1095375"/>
              <a:ext cx="2095500" cy="57150"/>
            </a:xfrm>
            <a:custGeom>
              <a:avLst/>
              <a:gdLst/>
              <a:ahLst/>
              <a:cxnLst/>
              <a:rect l="l" t="t" r="r" b="b"/>
              <a:pathLst>
                <a:path w="2095500" h="57150">
                  <a:moveTo>
                    <a:pt x="28575" y="0"/>
                  </a:moveTo>
                  <a:lnTo>
                    <a:pt x="2066925" y="0"/>
                  </a:lnTo>
                  <a:cubicBezTo>
                    <a:pt x="2082707" y="0"/>
                    <a:pt x="2095500" y="12793"/>
                    <a:pt x="2095500" y="28575"/>
                  </a:cubicBezTo>
                  <a:lnTo>
                    <a:pt x="2095500" y="28575"/>
                  </a:lnTo>
                  <a:cubicBezTo>
                    <a:pt x="2095500" y="44357"/>
                    <a:pt x="2082707" y="57150"/>
                    <a:pt x="20669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B6B3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7543800" y="1352550"/>
              <a:ext cx="342900" cy="342900"/>
            </a:xfrm>
            <a:prstGeom prst="ellipse">
              <a:avLst/>
            </a:prstGeom>
            <a:solidFill>
              <a:srgbClr val="1B6B3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98797" y="1451610"/>
              <a:ext cx="2329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83855" y="1330642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中英文摘要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50468" y="1704499"/>
              <a:ext cx="11853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中文摘要 + 关键词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50468" y="1894999"/>
              <a:ext cx="14131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英文摘要 + Keywords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51420" y="2122170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0AEC0"/>
                  </a:solidFill>
                  <a:latin typeface="Segoe UI"/>
                  <a:ea typeface="Microsoft YaHei"/>
                  <a:cs typeface="Segoe UI"/>
                </a:rPr>
                <a:t>罗马数字页码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715500" y="1095375"/>
            <a:ext cx="2095500" cy="1238250"/>
            <a:chOff x="9715500" y="1095375"/>
            <a:chExt cx="2095500" cy="1238250"/>
          </a:xfrm>
        </p:grpSpPr>
        <p:sp>
          <p:nvSpPr>
            <p:cNvPr id="42" name="Freeform 42"/>
            <p:cNvSpPr/>
            <p:nvPr/>
          </p:nvSpPr>
          <p:spPr>
            <a:xfrm>
              <a:off x="9715500" y="1095375"/>
              <a:ext cx="2095500" cy="1238250"/>
            </a:xfrm>
            <a:custGeom>
              <a:avLst/>
              <a:gdLst/>
              <a:ahLst/>
              <a:cxnLst/>
              <a:rect l="l" t="t" r="r" b="b"/>
              <a:pathLst>
                <a:path w="2095500" h="1238250">
                  <a:moveTo>
                    <a:pt x="76200" y="0"/>
                  </a:moveTo>
                  <a:lnTo>
                    <a:pt x="2019300" y="0"/>
                  </a:lnTo>
                  <a:cubicBezTo>
                    <a:pt x="2061384" y="0"/>
                    <a:pt x="2095500" y="34116"/>
                    <a:pt x="2095500" y="76200"/>
                  </a:cubicBezTo>
                  <a:lnTo>
                    <a:pt x="2095500" y="1162050"/>
                  </a:lnTo>
                  <a:cubicBezTo>
                    <a:pt x="2095500" y="1204134"/>
                    <a:pt x="2061384" y="1238250"/>
                    <a:pt x="20193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715500" y="1095375"/>
              <a:ext cx="2095500" cy="57150"/>
            </a:xfrm>
            <a:custGeom>
              <a:avLst/>
              <a:gdLst/>
              <a:ahLst/>
              <a:cxnLst/>
              <a:rect l="l" t="t" r="r" b="b"/>
              <a:pathLst>
                <a:path w="2095500" h="57150">
                  <a:moveTo>
                    <a:pt x="28575" y="0"/>
                  </a:moveTo>
                  <a:lnTo>
                    <a:pt x="2066925" y="0"/>
                  </a:lnTo>
                  <a:cubicBezTo>
                    <a:pt x="2082707" y="0"/>
                    <a:pt x="2095500" y="12793"/>
                    <a:pt x="2095500" y="28575"/>
                  </a:cubicBezTo>
                  <a:lnTo>
                    <a:pt x="2095500" y="28575"/>
                  </a:lnTo>
                  <a:cubicBezTo>
                    <a:pt x="2095500" y="44357"/>
                    <a:pt x="2082707" y="57150"/>
                    <a:pt x="20669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B6B3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9829800" y="1352550"/>
              <a:ext cx="342900" cy="342900"/>
            </a:xfrm>
            <a:prstGeom prst="ellipse">
              <a:avLst/>
            </a:prstGeom>
            <a:solidFill>
              <a:srgbClr val="1B6B3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884797" y="1451610"/>
              <a:ext cx="2329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269855" y="1330642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目录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836468" y="170449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各章节及页码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836468" y="189499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一级标题加粗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837420" y="2122170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0AEC0"/>
                  </a:solidFill>
                  <a:latin typeface="Segoe UI"/>
                  <a:ea typeface="Microsoft YaHei"/>
                  <a:cs typeface="Segoe UI"/>
                </a:rPr>
                <a:t>不编页码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2714625"/>
            <a:ext cx="2095500" cy="1238250"/>
            <a:chOff x="571500" y="2714625"/>
            <a:chExt cx="2095500" cy="1238250"/>
          </a:xfrm>
        </p:grpSpPr>
        <p:sp>
          <p:nvSpPr>
            <p:cNvPr id="51" name="Freeform 51"/>
            <p:cNvSpPr/>
            <p:nvPr/>
          </p:nvSpPr>
          <p:spPr>
            <a:xfrm>
              <a:off x="571500" y="2714625"/>
              <a:ext cx="2095500" cy="1238250"/>
            </a:xfrm>
            <a:custGeom>
              <a:avLst/>
              <a:gdLst/>
              <a:ahLst/>
              <a:cxnLst/>
              <a:rect l="l" t="t" r="r" b="b"/>
              <a:pathLst>
                <a:path w="2095500" h="1238250">
                  <a:moveTo>
                    <a:pt x="76200" y="0"/>
                  </a:moveTo>
                  <a:lnTo>
                    <a:pt x="2019300" y="0"/>
                  </a:lnTo>
                  <a:cubicBezTo>
                    <a:pt x="2061384" y="0"/>
                    <a:pt x="2095500" y="34116"/>
                    <a:pt x="2095500" y="76200"/>
                  </a:cubicBezTo>
                  <a:lnTo>
                    <a:pt x="2095500" y="1162050"/>
                  </a:lnTo>
                  <a:cubicBezTo>
                    <a:pt x="2095500" y="1204134"/>
                    <a:pt x="2061384" y="1238250"/>
                    <a:pt x="20193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B6B3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685800" y="2971800"/>
              <a:ext cx="342900" cy="342900"/>
            </a:xfrm>
            <a:prstGeom prst="ellipse">
              <a:avLst/>
            </a:prstGeom>
            <a:solidFill>
              <a:srgbClr val="FFFFFF">
                <a:alpha val="25000"/>
              </a:srgbClr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40797" y="3070860"/>
              <a:ext cx="2329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5855" y="2949892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正文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92468" y="332374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8E6D4"/>
                  </a:solidFill>
                  <a:latin typeface="Segoe UI"/>
                  <a:ea typeface="Microsoft YaHei"/>
                  <a:cs typeface="Segoe UI"/>
                </a:rPr>
                <a:t>引言（绪论）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92468" y="351424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8E6D4"/>
                  </a:solidFill>
                  <a:latin typeface="Segoe UI"/>
                  <a:ea typeface="Microsoft YaHei"/>
                  <a:cs typeface="Segoe UI"/>
                </a:rPr>
                <a:t>各章研究内容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2468" y="370474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8E6D4"/>
                  </a:solidFill>
                  <a:latin typeface="Segoe UI"/>
                  <a:ea typeface="Microsoft YaHei"/>
                  <a:cs typeface="Segoe UI"/>
                </a:rPr>
                <a:t>结论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2857500" y="2714625"/>
            <a:ext cx="2095500" cy="1238250"/>
            <a:chOff x="2857500" y="2714625"/>
            <a:chExt cx="2095500" cy="1238250"/>
          </a:xfrm>
        </p:grpSpPr>
        <p:sp>
          <p:nvSpPr>
            <p:cNvPr id="59" name="Freeform 59"/>
            <p:cNvSpPr/>
            <p:nvPr/>
          </p:nvSpPr>
          <p:spPr>
            <a:xfrm>
              <a:off x="2857500" y="2714625"/>
              <a:ext cx="2095500" cy="1238250"/>
            </a:xfrm>
            <a:custGeom>
              <a:avLst/>
              <a:gdLst/>
              <a:ahLst/>
              <a:cxnLst/>
              <a:rect l="l" t="t" r="r" b="b"/>
              <a:pathLst>
                <a:path w="2095500" h="1238250">
                  <a:moveTo>
                    <a:pt x="76200" y="0"/>
                  </a:moveTo>
                  <a:lnTo>
                    <a:pt x="2019300" y="0"/>
                  </a:lnTo>
                  <a:cubicBezTo>
                    <a:pt x="2061384" y="0"/>
                    <a:pt x="2095500" y="34116"/>
                    <a:pt x="2095500" y="76200"/>
                  </a:cubicBezTo>
                  <a:lnTo>
                    <a:pt x="2095500" y="1162050"/>
                  </a:lnTo>
                  <a:cubicBezTo>
                    <a:pt x="2095500" y="1204134"/>
                    <a:pt x="2061384" y="1238250"/>
                    <a:pt x="20193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2857500" y="2714625"/>
              <a:ext cx="2095500" cy="57150"/>
            </a:xfrm>
            <a:custGeom>
              <a:avLst/>
              <a:gdLst/>
              <a:ahLst/>
              <a:cxnLst/>
              <a:rect l="l" t="t" r="r" b="b"/>
              <a:pathLst>
                <a:path w="2095500" h="57150">
                  <a:moveTo>
                    <a:pt x="28575" y="0"/>
                  </a:moveTo>
                  <a:lnTo>
                    <a:pt x="2066925" y="0"/>
                  </a:lnTo>
                  <a:cubicBezTo>
                    <a:pt x="2082707" y="0"/>
                    <a:pt x="2095500" y="12793"/>
                    <a:pt x="2095500" y="28575"/>
                  </a:cubicBezTo>
                  <a:lnTo>
                    <a:pt x="2095500" y="28575"/>
                  </a:lnTo>
                  <a:cubicBezTo>
                    <a:pt x="2095500" y="44357"/>
                    <a:pt x="2082707" y="57150"/>
                    <a:pt x="20669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2E8A50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2971800" y="2971800"/>
              <a:ext cx="342900" cy="342900"/>
            </a:xfrm>
            <a:prstGeom prst="ellipse">
              <a:avLst/>
            </a:prstGeom>
            <a:solidFill>
              <a:srgbClr val="2E8A5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026797" y="3070860"/>
              <a:ext cx="2329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411855" y="294989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参考文献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2978468" y="3323749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顺序编码制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978468" y="35142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另起一页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979420" y="3741420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0AEC0"/>
                  </a:solidFill>
                  <a:latin typeface="Segoe UI"/>
                  <a:ea typeface="Microsoft YaHei"/>
                  <a:cs typeface="Segoe UI"/>
                </a:rPr>
                <a:t>博士 ≥80 篇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143500" y="2714625"/>
            <a:ext cx="2095500" cy="1238250"/>
            <a:chOff x="5143500" y="2714625"/>
            <a:chExt cx="2095500" cy="1238250"/>
          </a:xfrm>
        </p:grpSpPr>
        <p:sp>
          <p:nvSpPr>
            <p:cNvPr id="68" name="Freeform 68"/>
            <p:cNvSpPr/>
            <p:nvPr/>
          </p:nvSpPr>
          <p:spPr>
            <a:xfrm>
              <a:off x="5143500" y="2714625"/>
              <a:ext cx="2095500" cy="1238250"/>
            </a:xfrm>
            <a:custGeom>
              <a:avLst/>
              <a:gdLst/>
              <a:ahLst/>
              <a:cxnLst/>
              <a:rect l="l" t="t" r="r" b="b"/>
              <a:pathLst>
                <a:path w="2095500" h="1238250">
                  <a:moveTo>
                    <a:pt x="76200" y="0"/>
                  </a:moveTo>
                  <a:lnTo>
                    <a:pt x="2019300" y="0"/>
                  </a:lnTo>
                  <a:cubicBezTo>
                    <a:pt x="2061384" y="0"/>
                    <a:pt x="2095500" y="34116"/>
                    <a:pt x="2095500" y="76200"/>
                  </a:cubicBezTo>
                  <a:lnTo>
                    <a:pt x="2095500" y="1162050"/>
                  </a:lnTo>
                  <a:cubicBezTo>
                    <a:pt x="2095500" y="1204134"/>
                    <a:pt x="2061384" y="1238250"/>
                    <a:pt x="20193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5143500" y="2714625"/>
              <a:ext cx="2095500" cy="57150"/>
            </a:xfrm>
            <a:custGeom>
              <a:avLst/>
              <a:gdLst/>
              <a:ahLst/>
              <a:cxnLst/>
              <a:rect l="l" t="t" r="r" b="b"/>
              <a:pathLst>
                <a:path w="2095500" h="57150">
                  <a:moveTo>
                    <a:pt x="28575" y="0"/>
                  </a:moveTo>
                  <a:lnTo>
                    <a:pt x="2066925" y="0"/>
                  </a:lnTo>
                  <a:cubicBezTo>
                    <a:pt x="2082707" y="0"/>
                    <a:pt x="2095500" y="12793"/>
                    <a:pt x="2095500" y="28575"/>
                  </a:cubicBezTo>
                  <a:lnTo>
                    <a:pt x="2095500" y="28575"/>
                  </a:lnTo>
                  <a:cubicBezTo>
                    <a:pt x="2095500" y="44357"/>
                    <a:pt x="2082707" y="57150"/>
                    <a:pt x="20669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718096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5257800" y="2971800"/>
              <a:ext cx="342900" cy="342900"/>
            </a:xfrm>
            <a:prstGeom prst="ellipse">
              <a:avLst/>
            </a:prstGeom>
            <a:solidFill>
              <a:srgbClr val="718096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312797" y="3070860"/>
              <a:ext cx="2329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08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697855" y="2949892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附录（如有）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264468" y="332374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公式推导、实验数据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264468" y="351424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程序、补充材料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265420" y="3741420"/>
              <a:ext cx="9824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0AEC0"/>
                  </a:solidFill>
                  <a:latin typeface="Segoe UI"/>
                  <a:ea typeface="Microsoft YaHei"/>
                  <a:cs typeface="Segoe UI"/>
                </a:rPr>
                <a:t>附录 A, B, C...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7429500" y="2714625"/>
            <a:ext cx="2095500" cy="1238250"/>
            <a:chOff x="7429500" y="2714625"/>
            <a:chExt cx="2095500" cy="1238250"/>
          </a:xfrm>
        </p:grpSpPr>
        <p:sp>
          <p:nvSpPr>
            <p:cNvPr id="77" name="Freeform 77"/>
            <p:cNvSpPr/>
            <p:nvPr/>
          </p:nvSpPr>
          <p:spPr>
            <a:xfrm>
              <a:off x="7429500" y="2714625"/>
              <a:ext cx="2095500" cy="1238250"/>
            </a:xfrm>
            <a:custGeom>
              <a:avLst/>
              <a:gdLst/>
              <a:ahLst/>
              <a:cxnLst/>
              <a:rect l="l" t="t" r="r" b="b"/>
              <a:pathLst>
                <a:path w="2095500" h="1238250">
                  <a:moveTo>
                    <a:pt x="76200" y="0"/>
                  </a:moveTo>
                  <a:lnTo>
                    <a:pt x="2019300" y="0"/>
                  </a:lnTo>
                  <a:cubicBezTo>
                    <a:pt x="2061384" y="0"/>
                    <a:pt x="2095500" y="34116"/>
                    <a:pt x="2095500" y="76200"/>
                  </a:cubicBezTo>
                  <a:lnTo>
                    <a:pt x="2095500" y="1162050"/>
                  </a:lnTo>
                  <a:cubicBezTo>
                    <a:pt x="2095500" y="1204134"/>
                    <a:pt x="2061384" y="1238250"/>
                    <a:pt x="20193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8" name="Freeform 78"/>
            <p:cNvSpPr/>
            <p:nvPr/>
          </p:nvSpPr>
          <p:spPr>
            <a:xfrm>
              <a:off x="7429500" y="2714625"/>
              <a:ext cx="2095500" cy="57150"/>
            </a:xfrm>
            <a:custGeom>
              <a:avLst/>
              <a:gdLst/>
              <a:ahLst/>
              <a:cxnLst/>
              <a:rect l="l" t="t" r="r" b="b"/>
              <a:pathLst>
                <a:path w="2095500" h="57150">
                  <a:moveTo>
                    <a:pt x="28575" y="0"/>
                  </a:moveTo>
                  <a:lnTo>
                    <a:pt x="2066925" y="0"/>
                  </a:lnTo>
                  <a:cubicBezTo>
                    <a:pt x="2082707" y="0"/>
                    <a:pt x="2095500" y="12793"/>
                    <a:pt x="2095500" y="28575"/>
                  </a:cubicBezTo>
                  <a:lnTo>
                    <a:pt x="2095500" y="28575"/>
                  </a:lnTo>
                  <a:cubicBezTo>
                    <a:pt x="2095500" y="44357"/>
                    <a:pt x="2082707" y="57150"/>
                    <a:pt x="20669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D4A017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7543800" y="2971800"/>
              <a:ext cx="342900" cy="342900"/>
            </a:xfrm>
            <a:prstGeom prst="ellipse">
              <a:avLst/>
            </a:prstGeom>
            <a:solidFill>
              <a:srgbClr val="D4A017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598797" y="3070860"/>
              <a:ext cx="2329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09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986712" y="2974181"/>
              <a:ext cx="14087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攻读期间发表论著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550468" y="3323749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博士：必须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550468" y="351424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硕士：视情况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551420" y="3741420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0AEC0"/>
                  </a:solidFill>
                  <a:latin typeface="Segoe UI"/>
                  <a:ea typeface="Microsoft YaHei"/>
                  <a:cs typeface="Segoe UI"/>
                </a:rPr>
                <a:t>含学术论文等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9715500" y="2714625"/>
            <a:ext cx="2095500" cy="1238250"/>
            <a:chOff x="9715500" y="2714625"/>
            <a:chExt cx="2095500" cy="1238250"/>
          </a:xfrm>
        </p:grpSpPr>
        <p:sp>
          <p:nvSpPr>
            <p:cNvPr id="86" name="Freeform 86"/>
            <p:cNvSpPr/>
            <p:nvPr/>
          </p:nvSpPr>
          <p:spPr>
            <a:xfrm>
              <a:off x="9715500" y="2714625"/>
              <a:ext cx="2095500" cy="1238250"/>
            </a:xfrm>
            <a:custGeom>
              <a:avLst/>
              <a:gdLst/>
              <a:ahLst/>
              <a:cxnLst/>
              <a:rect l="l" t="t" r="r" b="b"/>
              <a:pathLst>
                <a:path w="2095500" h="1238250">
                  <a:moveTo>
                    <a:pt x="76200" y="0"/>
                  </a:moveTo>
                  <a:lnTo>
                    <a:pt x="2019300" y="0"/>
                  </a:lnTo>
                  <a:cubicBezTo>
                    <a:pt x="2061384" y="0"/>
                    <a:pt x="2095500" y="34116"/>
                    <a:pt x="2095500" y="76200"/>
                  </a:cubicBezTo>
                  <a:lnTo>
                    <a:pt x="2095500" y="1162050"/>
                  </a:lnTo>
                  <a:cubicBezTo>
                    <a:pt x="2095500" y="1204134"/>
                    <a:pt x="2061384" y="1238250"/>
                    <a:pt x="20193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9715500" y="2714625"/>
              <a:ext cx="2095500" cy="57150"/>
            </a:xfrm>
            <a:custGeom>
              <a:avLst/>
              <a:gdLst/>
              <a:ahLst/>
              <a:cxnLst/>
              <a:rect l="l" t="t" r="r" b="b"/>
              <a:pathLst>
                <a:path w="2095500" h="57150">
                  <a:moveTo>
                    <a:pt x="28575" y="0"/>
                  </a:moveTo>
                  <a:lnTo>
                    <a:pt x="2066925" y="0"/>
                  </a:lnTo>
                  <a:cubicBezTo>
                    <a:pt x="2082707" y="0"/>
                    <a:pt x="2095500" y="12793"/>
                    <a:pt x="2095500" y="28575"/>
                  </a:cubicBezTo>
                  <a:lnTo>
                    <a:pt x="2095500" y="28575"/>
                  </a:lnTo>
                  <a:cubicBezTo>
                    <a:pt x="2095500" y="44357"/>
                    <a:pt x="2082707" y="57150"/>
                    <a:pt x="20669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B6B3A"/>
            </a:solidFill>
            <a:ln>
              <a:noFill/>
            </a:ln>
          </p:spPr>
        </p:sp>
        <p:sp>
          <p:nvSpPr>
            <p:cNvPr id="88" name="Ellipse 88"/>
            <p:cNvSpPr/>
            <p:nvPr/>
          </p:nvSpPr>
          <p:spPr>
            <a:xfrm>
              <a:off x="9829800" y="2971800"/>
              <a:ext cx="342900" cy="342900"/>
            </a:xfrm>
            <a:prstGeom prst="ellipse">
              <a:avLst/>
            </a:prstGeom>
            <a:solidFill>
              <a:srgbClr val="1B6B3A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9907800" y="3070860"/>
              <a:ext cx="186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10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0269855" y="2949892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致谢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836468" y="332374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感谢导师及合作者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836468" y="351424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感谢资助单位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837420" y="3741420"/>
              <a:ext cx="10744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0AEC0"/>
                  </a:solidFill>
                  <a:latin typeface="Segoe UI"/>
                  <a:ea typeface="Microsoft YaHei"/>
                  <a:cs typeface="Segoe UI"/>
                </a:rPr>
                <a:t>位于参考文献之后</a:t>
              </a:r>
            </a:p>
          </p:txBody>
        </p:sp>
      </p:grpSp>
      <p:sp>
        <p:nvSpPr>
          <p:cNvPr id="95" name="Freeform 95"/>
          <p:cNvSpPr/>
          <p:nvPr/>
        </p:nvSpPr>
        <p:spPr>
          <a:xfrm>
            <a:off x="571500" y="4333875"/>
            <a:ext cx="11049000" cy="571500"/>
          </a:xfrm>
          <a:custGeom>
            <a:avLst/>
            <a:gdLst/>
            <a:ahLst/>
            <a:cxnLst/>
            <a:rect l="l" t="t" r="r" b="b"/>
            <a:pathLst>
              <a:path w="11049000" h="571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495300"/>
                </a:lnTo>
                <a:cubicBezTo>
                  <a:pt x="11049000" y="537384"/>
                  <a:pt x="11014884" y="571500"/>
                  <a:pt x="10972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BF5EF"/>
          </a:solidFill>
          <a:ln w="9525">
            <a:solidFill>
              <a:srgbClr val="1B6B3A"/>
            </a:solidFill>
            <a:custDash>
              <a:ds d="400000" sp="200000"/>
            </a:custDash>
          </a:ln>
        </p:spPr>
      </p:sp>
      <p:sp>
        <p:nvSpPr>
          <p:cNvPr id="96" name="TextBox 96"/>
          <p:cNvSpPr txBox="1"/>
          <p:nvPr/>
        </p:nvSpPr>
        <p:spPr>
          <a:xfrm>
            <a:off x="842010" y="4451985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页码规则：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985962" y="4460081"/>
            <a:ext cx="172092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封面 &amp; 目录 — 不编页码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4652962" y="4460081"/>
            <a:ext cx="28710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中英文摘要 — 罗马数字（i, ii, iii...）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8558212" y="4460081"/>
            <a:ext cx="28053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正文开始 — 阿拉伯数字（1, 2, 3...）</a:t>
            </a:r>
          </a:p>
        </p:txBody>
      </p:sp>
      <p:sp>
        <p:nvSpPr>
          <p:cNvPr id="100" name="Rectangle 100"/>
          <p:cNvSpPr/>
          <p:nvPr/>
        </p:nvSpPr>
        <p:spPr>
          <a:xfrm>
            <a:off x="571500" y="53340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01" name="TextBox 101"/>
          <p:cNvSpPr txBox="1"/>
          <p:nvPr/>
        </p:nvSpPr>
        <p:spPr>
          <a:xfrm>
            <a:off x="941070" y="5427345"/>
            <a:ext cx="25203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华中师范大学研究生学位论文撰写格式标准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5933408" y="5427345"/>
            <a:ext cx="3251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Arial"/>
                <a:ea typeface="Microsoft YaHei"/>
                <a:cs typeface="Arial"/>
              </a:rPr>
              <a:t>3 / 11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B6B3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961382" y="255270"/>
            <a:ext cx="226923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前置部分详解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03420" y="632460"/>
            <a:ext cx="31851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论文正文之前的各项必备内容及格式要求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71500" y="1047750"/>
            <a:ext cx="3429000" cy="1333500"/>
            <a:chOff x="571500" y="1047750"/>
            <a:chExt cx="3429000" cy="1333500"/>
          </a:xfrm>
        </p:grpSpPr>
        <p:sp>
          <p:nvSpPr>
            <p:cNvPr id="6" name="Freeform 6"/>
            <p:cNvSpPr/>
            <p:nvPr/>
          </p:nvSpPr>
          <p:spPr>
            <a:xfrm>
              <a:off x="571500" y="1047750"/>
              <a:ext cx="3429000" cy="1333500"/>
            </a:xfrm>
            <a:custGeom>
              <a:avLst/>
              <a:gdLst/>
              <a:ahLst/>
              <a:cxnLst/>
              <a:rect l="l" t="t" r="r" b="b"/>
              <a:pathLst>
                <a:path w="3429000" h="1333500">
                  <a:moveTo>
                    <a:pt x="76200" y="0"/>
                  </a:moveTo>
                  <a:lnTo>
                    <a:pt x="3352800" y="0"/>
                  </a:lnTo>
                  <a:cubicBezTo>
                    <a:pt x="3394884" y="0"/>
                    <a:pt x="3429000" y="34116"/>
                    <a:pt x="3429000" y="76200"/>
                  </a:cubicBezTo>
                  <a:lnTo>
                    <a:pt x="3429000" y="1257300"/>
                  </a:lnTo>
                  <a:cubicBezTo>
                    <a:pt x="3429000" y="1299384"/>
                    <a:pt x="3394884" y="1333500"/>
                    <a:pt x="3352800" y="1333500"/>
                  </a:cubicBezTo>
                  <a:lnTo>
                    <a:pt x="76200" y="1333500"/>
                  </a:lnTo>
                  <a:cubicBezTo>
                    <a:pt x="34116" y="1333500"/>
                    <a:pt x="0" y="1299384"/>
                    <a:pt x="0" y="1257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047750"/>
              <a:ext cx="57150" cy="1333500"/>
            </a:xfrm>
            <a:custGeom>
              <a:avLst/>
              <a:gdLst/>
              <a:ahLst/>
              <a:cxnLst/>
              <a:rect l="l" t="t" r="r" b="b"/>
              <a:pathLst>
                <a:path w="57150" h="13335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1304925"/>
                  </a:lnTo>
                  <a:cubicBezTo>
                    <a:pt x="57150" y="1320707"/>
                    <a:pt x="44357" y="1333500"/>
                    <a:pt x="28575" y="1333500"/>
                  </a:cubicBezTo>
                  <a:lnTo>
                    <a:pt x="28575" y="1333500"/>
                  </a:lnTo>
                  <a:cubicBezTo>
                    <a:pt x="12793" y="1333500"/>
                    <a:pt x="0" y="1320707"/>
                    <a:pt x="0" y="13049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B6B3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19150" y="1200150"/>
              <a:ext cx="419100" cy="419100"/>
            </a:xfrm>
            <a:prstGeom prst="ellipse">
              <a:avLst/>
            </a:prstGeom>
            <a:solidFill>
              <a:srgbClr val="EBF5E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11888" y="1314450"/>
              <a:ext cx="23362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B6B3A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35405" y="124491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封面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0168" y="14758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单面印刷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7715" y="171545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· 学校全称 / 论文题目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7715" y="192500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· 作者姓名 / 指导教师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7715" y="213455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· 申请学位级别 / 提交日期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381500" y="1047750"/>
            <a:ext cx="3429000" cy="1333500"/>
            <a:chOff x="4381500" y="1047750"/>
            <a:chExt cx="3429000" cy="1333500"/>
          </a:xfrm>
        </p:grpSpPr>
        <p:sp>
          <p:nvSpPr>
            <p:cNvPr id="16" name="Freeform 16"/>
            <p:cNvSpPr/>
            <p:nvPr/>
          </p:nvSpPr>
          <p:spPr>
            <a:xfrm>
              <a:off x="4381500" y="1047750"/>
              <a:ext cx="3429000" cy="1333500"/>
            </a:xfrm>
            <a:custGeom>
              <a:avLst/>
              <a:gdLst/>
              <a:ahLst/>
              <a:cxnLst/>
              <a:rect l="l" t="t" r="r" b="b"/>
              <a:pathLst>
                <a:path w="3429000" h="1333500">
                  <a:moveTo>
                    <a:pt x="76200" y="0"/>
                  </a:moveTo>
                  <a:lnTo>
                    <a:pt x="3352800" y="0"/>
                  </a:lnTo>
                  <a:cubicBezTo>
                    <a:pt x="3394884" y="0"/>
                    <a:pt x="3429000" y="34116"/>
                    <a:pt x="3429000" y="76200"/>
                  </a:cubicBezTo>
                  <a:lnTo>
                    <a:pt x="3429000" y="1257300"/>
                  </a:lnTo>
                  <a:cubicBezTo>
                    <a:pt x="3429000" y="1299384"/>
                    <a:pt x="3394884" y="1333500"/>
                    <a:pt x="3352800" y="1333500"/>
                  </a:cubicBezTo>
                  <a:lnTo>
                    <a:pt x="76200" y="1333500"/>
                  </a:lnTo>
                  <a:cubicBezTo>
                    <a:pt x="34116" y="1333500"/>
                    <a:pt x="0" y="1299384"/>
                    <a:pt x="0" y="1257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381500" y="1047750"/>
              <a:ext cx="57150" cy="1333500"/>
            </a:xfrm>
            <a:custGeom>
              <a:avLst/>
              <a:gdLst/>
              <a:ahLst/>
              <a:cxnLst/>
              <a:rect l="l" t="t" r="r" b="b"/>
              <a:pathLst>
                <a:path w="57150" h="13335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1304925"/>
                  </a:lnTo>
                  <a:cubicBezTo>
                    <a:pt x="57150" y="1320707"/>
                    <a:pt x="44357" y="1333500"/>
                    <a:pt x="28575" y="1333500"/>
                  </a:cubicBezTo>
                  <a:lnTo>
                    <a:pt x="28575" y="1333500"/>
                  </a:lnTo>
                  <a:cubicBezTo>
                    <a:pt x="12793" y="1333500"/>
                    <a:pt x="0" y="1320707"/>
                    <a:pt x="0" y="13049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B6B3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4629150" y="1200150"/>
              <a:ext cx="419100" cy="419100"/>
            </a:xfrm>
            <a:prstGeom prst="ellipse">
              <a:avLst/>
            </a:prstGeom>
            <a:solidFill>
              <a:srgbClr val="EBF5E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693134" y="1314450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B6B3A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45405" y="12449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中文扉页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50168" y="14758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双面印刷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77715" y="1715452"/>
              <a:ext cx="15371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· 内容与封面基本一致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77715" y="1925002"/>
              <a:ext cx="9237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· 中文题名页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77715" y="2134552"/>
              <a:ext cx="1383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· 详细学术信息展示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191500" y="1047750"/>
            <a:ext cx="3429000" cy="1333500"/>
            <a:chOff x="8191500" y="1047750"/>
            <a:chExt cx="3429000" cy="1333500"/>
          </a:xfrm>
        </p:grpSpPr>
        <p:sp>
          <p:nvSpPr>
            <p:cNvPr id="26" name="Freeform 26"/>
            <p:cNvSpPr/>
            <p:nvPr/>
          </p:nvSpPr>
          <p:spPr>
            <a:xfrm>
              <a:off x="8191500" y="1047750"/>
              <a:ext cx="3429000" cy="1333500"/>
            </a:xfrm>
            <a:custGeom>
              <a:avLst/>
              <a:gdLst/>
              <a:ahLst/>
              <a:cxnLst/>
              <a:rect l="l" t="t" r="r" b="b"/>
              <a:pathLst>
                <a:path w="3429000" h="1333500">
                  <a:moveTo>
                    <a:pt x="76200" y="0"/>
                  </a:moveTo>
                  <a:lnTo>
                    <a:pt x="3352800" y="0"/>
                  </a:lnTo>
                  <a:cubicBezTo>
                    <a:pt x="3394884" y="0"/>
                    <a:pt x="3429000" y="34116"/>
                    <a:pt x="3429000" y="76200"/>
                  </a:cubicBezTo>
                  <a:lnTo>
                    <a:pt x="3429000" y="1257300"/>
                  </a:lnTo>
                  <a:cubicBezTo>
                    <a:pt x="3429000" y="1299384"/>
                    <a:pt x="3394884" y="1333500"/>
                    <a:pt x="3352800" y="1333500"/>
                  </a:cubicBezTo>
                  <a:lnTo>
                    <a:pt x="76200" y="1333500"/>
                  </a:lnTo>
                  <a:cubicBezTo>
                    <a:pt x="34116" y="1333500"/>
                    <a:pt x="0" y="1299384"/>
                    <a:pt x="0" y="1257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191500" y="1047750"/>
              <a:ext cx="57150" cy="1333500"/>
            </a:xfrm>
            <a:custGeom>
              <a:avLst/>
              <a:gdLst/>
              <a:ahLst/>
              <a:cxnLst/>
              <a:rect l="l" t="t" r="r" b="b"/>
              <a:pathLst>
                <a:path w="57150" h="13335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1304925"/>
                  </a:lnTo>
                  <a:cubicBezTo>
                    <a:pt x="57150" y="1320707"/>
                    <a:pt x="44357" y="1333500"/>
                    <a:pt x="28575" y="1333500"/>
                  </a:cubicBezTo>
                  <a:lnTo>
                    <a:pt x="28575" y="1333500"/>
                  </a:lnTo>
                  <a:cubicBezTo>
                    <a:pt x="12793" y="1333500"/>
                    <a:pt x="0" y="1320707"/>
                    <a:pt x="0" y="13049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B6B3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8439150" y="1200150"/>
              <a:ext cx="419100" cy="419100"/>
            </a:xfrm>
            <a:prstGeom prst="ellipse">
              <a:avLst/>
            </a:prstGeom>
            <a:solidFill>
              <a:srgbClr val="EBF5E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503134" y="1314450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B6B3A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55405" y="12449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英文扉页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60168" y="14758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双面印刷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87715" y="1715452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· 英文版题名页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87715" y="1925002"/>
              <a:ext cx="17518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· 标题 Times New Roman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87715" y="2134552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· 与中文扉页对应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71500" y="2762250"/>
            <a:ext cx="3429000" cy="1333500"/>
            <a:chOff x="571500" y="2762250"/>
            <a:chExt cx="3429000" cy="1333500"/>
          </a:xfrm>
        </p:grpSpPr>
        <p:sp>
          <p:nvSpPr>
            <p:cNvPr id="36" name="Freeform 36"/>
            <p:cNvSpPr/>
            <p:nvPr/>
          </p:nvSpPr>
          <p:spPr>
            <a:xfrm>
              <a:off x="571500" y="2762250"/>
              <a:ext cx="3429000" cy="1333500"/>
            </a:xfrm>
            <a:custGeom>
              <a:avLst/>
              <a:gdLst/>
              <a:ahLst/>
              <a:cxnLst/>
              <a:rect l="l" t="t" r="r" b="b"/>
              <a:pathLst>
                <a:path w="3429000" h="1333500">
                  <a:moveTo>
                    <a:pt x="76200" y="0"/>
                  </a:moveTo>
                  <a:lnTo>
                    <a:pt x="3352800" y="0"/>
                  </a:lnTo>
                  <a:cubicBezTo>
                    <a:pt x="3394884" y="0"/>
                    <a:pt x="3429000" y="34116"/>
                    <a:pt x="3429000" y="76200"/>
                  </a:cubicBezTo>
                  <a:lnTo>
                    <a:pt x="3429000" y="1257300"/>
                  </a:lnTo>
                  <a:cubicBezTo>
                    <a:pt x="3429000" y="1299384"/>
                    <a:pt x="3394884" y="1333500"/>
                    <a:pt x="3352800" y="1333500"/>
                  </a:cubicBezTo>
                  <a:lnTo>
                    <a:pt x="76200" y="1333500"/>
                  </a:lnTo>
                  <a:cubicBezTo>
                    <a:pt x="34116" y="1333500"/>
                    <a:pt x="0" y="1299384"/>
                    <a:pt x="0" y="1257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ED7A0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571500" y="2762250"/>
              <a:ext cx="57150" cy="1333500"/>
            </a:xfrm>
            <a:custGeom>
              <a:avLst/>
              <a:gdLst/>
              <a:ahLst/>
              <a:cxnLst/>
              <a:rect l="l" t="t" r="r" b="b"/>
              <a:pathLst>
                <a:path w="57150" h="13335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1304925"/>
                  </a:lnTo>
                  <a:cubicBezTo>
                    <a:pt x="57150" y="1320707"/>
                    <a:pt x="44357" y="1333500"/>
                    <a:pt x="28575" y="1333500"/>
                  </a:cubicBezTo>
                  <a:lnTo>
                    <a:pt x="28575" y="1333500"/>
                  </a:lnTo>
                  <a:cubicBezTo>
                    <a:pt x="12793" y="1333500"/>
                    <a:pt x="0" y="1320707"/>
                    <a:pt x="0" y="13049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D4A017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19150" y="2914650"/>
              <a:ext cx="419100" cy="419100"/>
            </a:xfrm>
            <a:prstGeom prst="ellipse">
              <a:avLst/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83134" y="3028950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D4A017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337310" y="2975610"/>
              <a:ext cx="17142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原创性声明 &amp; 授权书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340168" y="3190399"/>
              <a:ext cx="16125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53E3E"/>
                  </a:solidFill>
                  <a:latin typeface="Segoe UI"/>
                  <a:ea typeface="Microsoft YaHei"/>
                  <a:cs typeface="Segoe UI"/>
                </a:rPr>
                <a:t>单面印刷 · 必须亲笔签名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7715" y="3429952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· 作者亲笔签名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7715" y="3639502"/>
              <a:ext cx="1383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· 指导教师亲笔签名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7715" y="3849052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· 学校统一格式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381500" y="2762250"/>
            <a:ext cx="3429000" cy="1333500"/>
            <a:chOff x="4381500" y="2762250"/>
            <a:chExt cx="3429000" cy="1333500"/>
          </a:xfrm>
        </p:grpSpPr>
        <p:sp>
          <p:nvSpPr>
            <p:cNvPr id="46" name="Freeform 46"/>
            <p:cNvSpPr/>
            <p:nvPr/>
          </p:nvSpPr>
          <p:spPr>
            <a:xfrm>
              <a:off x="4381500" y="2762250"/>
              <a:ext cx="3429000" cy="1333500"/>
            </a:xfrm>
            <a:custGeom>
              <a:avLst/>
              <a:gdLst/>
              <a:ahLst/>
              <a:cxnLst/>
              <a:rect l="l" t="t" r="r" b="b"/>
              <a:pathLst>
                <a:path w="3429000" h="1333500">
                  <a:moveTo>
                    <a:pt x="76200" y="0"/>
                  </a:moveTo>
                  <a:lnTo>
                    <a:pt x="3352800" y="0"/>
                  </a:lnTo>
                  <a:cubicBezTo>
                    <a:pt x="3394884" y="0"/>
                    <a:pt x="3429000" y="34116"/>
                    <a:pt x="3429000" y="76200"/>
                  </a:cubicBezTo>
                  <a:lnTo>
                    <a:pt x="3429000" y="1257300"/>
                  </a:lnTo>
                  <a:cubicBezTo>
                    <a:pt x="3429000" y="1299384"/>
                    <a:pt x="3394884" y="1333500"/>
                    <a:pt x="3352800" y="1333500"/>
                  </a:cubicBezTo>
                  <a:lnTo>
                    <a:pt x="76200" y="1333500"/>
                  </a:lnTo>
                  <a:cubicBezTo>
                    <a:pt x="34116" y="1333500"/>
                    <a:pt x="0" y="1299384"/>
                    <a:pt x="0" y="1257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4381500" y="2762250"/>
              <a:ext cx="57150" cy="1333500"/>
            </a:xfrm>
            <a:custGeom>
              <a:avLst/>
              <a:gdLst/>
              <a:ahLst/>
              <a:cxnLst/>
              <a:rect l="l" t="t" r="r" b="b"/>
              <a:pathLst>
                <a:path w="57150" h="13335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1304925"/>
                  </a:lnTo>
                  <a:cubicBezTo>
                    <a:pt x="57150" y="1320707"/>
                    <a:pt x="44357" y="1333500"/>
                    <a:pt x="28575" y="1333500"/>
                  </a:cubicBezTo>
                  <a:lnTo>
                    <a:pt x="28575" y="1333500"/>
                  </a:lnTo>
                  <a:cubicBezTo>
                    <a:pt x="12793" y="1333500"/>
                    <a:pt x="0" y="1320707"/>
                    <a:pt x="0" y="13049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2E8A50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4629150" y="2914650"/>
              <a:ext cx="419100" cy="419100"/>
            </a:xfrm>
            <a:prstGeom prst="ellipse">
              <a:avLst/>
            </a:prstGeom>
            <a:solidFill>
              <a:srgbClr val="EBF5E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693134" y="3028950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E8A50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145405" y="29594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中文摘要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150168" y="319039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页码：罗马数字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577715" y="3429952"/>
              <a:ext cx="18592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· "摘要"三号黑体加粗居中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577715" y="3639502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· 硕士小四号 / 博士五号宋体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577715" y="3849052"/>
              <a:ext cx="18822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· 关键词 3-8 个，分号间隔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191500" y="2762250"/>
            <a:ext cx="3429000" cy="1333500"/>
            <a:chOff x="8191500" y="2762250"/>
            <a:chExt cx="3429000" cy="1333500"/>
          </a:xfrm>
        </p:grpSpPr>
        <p:sp>
          <p:nvSpPr>
            <p:cNvPr id="56" name="Freeform 56"/>
            <p:cNvSpPr/>
            <p:nvPr/>
          </p:nvSpPr>
          <p:spPr>
            <a:xfrm>
              <a:off x="8191500" y="2762250"/>
              <a:ext cx="3429000" cy="1333500"/>
            </a:xfrm>
            <a:custGeom>
              <a:avLst/>
              <a:gdLst/>
              <a:ahLst/>
              <a:cxnLst/>
              <a:rect l="l" t="t" r="r" b="b"/>
              <a:pathLst>
                <a:path w="3429000" h="1333500">
                  <a:moveTo>
                    <a:pt x="76200" y="0"/>
                  </a:moveTo>
                  <a:lnTo>
                    <a:pt x="3352800" y="0"/>
                  </a:lnTo>
                  <a:cubicBezTo>
                    <a:pt x="3394884" y="0"/>
                    <a:pt x="3429000" y="34116"/>
                    <a:pt x="3429000" y="76200"/>
                  </a:cubicBezTo>
                  <a:lnTo>
                    <a:pt x="3429000" y="1257300"/>
                  </a:lnTo>
                  <a:cubicBezTo>
                    <a:pt x="3429000" y="1299384"/>
                    <a:pt x="3394884" y="1333500"/>
                    <a:pt x="3352800" y="1333500"/>
                  </a:cubicBezTo>
                  <a:lnTo>
                    <a:pt x="76200" y="1333500"/>
                  </a:lnTo>
                  <a:cubicBezTo>
                    <a:pt x="34116" y="1333500"/>
                    <a:pt x="0" y="1299384"/>
                    <a:pt x="0" y="1257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8191500" y="2762250"/>
              <a:ext cx="57150" cy="1333500"/>
            </a:xfrm>
            <a:custGeom>
              <a:avLst/>
              <a:gdLst/>
              <a:ahLst/>
              <a:cxnLst/>
              <a:rect l="l" t="t" r="r" b="b"/>
              <a:pathLst>
                <a:path w="57150" h="13335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1304925"/>
                  </a:lnTo>
                  <a:cubicBezTo>
                    <a:pt x="57150" y="1320707"/>
                    <a:pt x="44357" y="1333500"/>
                    <a:pt x="28575" y="1333500"/>
                  </a:cubicBezTo>
                  <a:lnTo>
                    <a:pt x="28575" y="1333500"/>
                  </a:lnTo>
                  <a:cubicBezTo>
                    <a:pt x="12793" y="1333500"/>
                    <a:pt x="0" y="1320707"/>
                    <a:pt x="0" y="13049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2E8A50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8439150" y="2914650"/>
              <a:ext cx="419100" cy="419100"/>
            </a:xfrm>
            <a:prstGeom prst="ellipse">
              <a:avLst/>
            </a:prstGeom>
            <a:solidFill>
              <a:srgbClr val="EBF5E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503134" y="3028950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E8A50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955405" y="29594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英文摘要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960168" y="319039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页码：罗马数字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387715" y="3429952"/>
              <a:ext cx="22656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· "Abstract"三号 TNR 加粗居中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387715" y="3639502"/>
              <a:ext cx="20125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· 硕士小四号 / 博士五号 TNR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387715" y="3849052"/>
              <a:ext cx="16752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· Keywords 同正文字号</a:t>
              </a:r>
            </a:p>
          </p:txBody>
        </p:sp>
      </p:grpSp>
      <p:sp>
        <p:nvSpPr>
          <p:cNvPr id="66" name="Freeform 66"/>
          <p:cNvSpPr/>
          <p:nvPr/>
        </p:nvSpPr>
        <p:spPr>
          <a:xfrm>
            <a:off x="571500" y="4476750"/>
            <a:ext cx="11049000" cy="523875"/>
          </a:xfrm>
          <a:custGeom>
            <a:avLst/>
            <a:gdLst/>
            <a:ahLst/>
            <a:cxnLst/>
            <a:rect l="l" t="t" r="r" b="b"/>
            <a:pathLst>
              <a:path w="11049000" h="523875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447675"/>
                </a:lnTo>
                <a:cubicBezTo>
                  <a:pt x="11049000" y="489759"/>
                  <a:pt x="11014884" y="523875"/>
                  <a:pt x="10972800" y="523875"/>
                </a:cubicBezTo>
                <a:lnTo>
                  <a:pt x="76200" y="523875"/>
                </a:lnTo>
                <a:cubicBezTo>
                  <a:pt x="34116" y="523875"/>
                  <a:pt x="0" y="489759"/>
                  <a:pt x="0" y="4476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BF5EF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842962" y="4622006"/>
            <a:ext cx="8911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印刷规则：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985962" y="4622006"/>
            <a:ext cx="221384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封面 &amp; 原创性声明 — 单面印刷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5986462" y="4622006"/>
            <a:ext cx="383226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中英文扉页、摘要及后续 — 双面印刷（硕士可单面）</a:t>
            </a:r>
          </a:p>
        </p:txBody>
      </p:sp>
      <p:sp>
        <p:nvSpPr>
          <p:cNvPr id="70" name="Rectangle 70"/>
          <p:cNvSpPr/>
          <p:nvPr/>
        </p:nvSpPr>
        <p:spPr>
          <a:xfrm>
            <a:off x="571500" y="54102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941070" y="5503545"/>
            <a:ext cx="25203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华中师范大学研究生学位论文撰写格式标准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933408" y="5503545"/>
            <a:ext cx="3251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Arial"/>
                <a:ea typeface="Microsoft YaHei"/>
                <a:cs typeface="Arial"/>
              </a:rPr>
              <a:t>4 / 11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B6B3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593336" y="255270"/>
            <a:ext cx="30053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摘要与关键词规范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66044" y="632460"/>
            <a:ext cx="38599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中文摘要 vs 英文摘要 · 字体、字号、行距全对比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000125"/>
            <a:ext cx="5334000" cy="4667250"/>
          </a:xfrm>
          <a:custGeom>
            <a:avLst/>
            <a:gdLst/>
            <a:ahLst/>
            <a:cxnLst/>
            <a:rect l="l" t="t" r="r" b="b"/>
            <a:pathLst>
              <a:path w="5334000" h="46672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4572000"/>
                </a:lnTo>
                <a:cubicBezTo>
                  <a:pt x="5334000" y="4624605"/>
                  <a:pt x="5291355" y="4667250"/>
                  <a:pt x="5238750" y="4667250"/>
                </a:cubicBezTo>
                <a:lnTo>
                  <a:pt x="95250" y="4667250"/>
                </a:lnTo>
                <a:cubicBezTo>
                  <a:pt x="42645" y="4667250"/>
                  <a:pt x="0" y="4624605"/>
                  <a:pt x="0" y="4572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2E8F0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571500" y="1000125"/>
            <a:ext cx="5334000" cy="76200"/>
          </a:xfrm>
          <a:custGeom>
            <a:avLst/>
            <a:gdLst/>
            <a:ahLst/>
            <a:cxnLst/>
            <a:rect l="l" t="t" r="r" b="b"/>
            <a:pathLst>
              <a:path w="5334000" h="76200">
                <a:moveTo>
                  <a:pt x="47625" y="0"/>
                </a:moveTo>
                <a:lnTo>
                  <a:pt x="5286375" y="0"/>
                </a:lnTo>
                <a:cubicBezTo>
                  <a:pt x="5312678" y="0"/>
                  <a:pt x="5334000" y="17058"/>
                  <a:pt x="5334000" y="38100"/>
                </a:cubicBezTo>
                <a:lnTo>
                  <a:pt x="5334000" y="38100"/>
                </a:lnTo>
                <a:cubicBezTo>
                  <a:pt x="5334000" y="59142"/>
                  <a:pt x="5312678" y="76200"/>
                  <a:pt x="5286375" y="76200"/>
                </a:cubicBezTo>
                <a:lnTo>
                  <a:pt x="47625" y="76200"/>
                </a:lnTo>
                <a:cubicBezTo>
                  <a:pt x="21322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21322" y="0"/>
                  <a:pt x="47625" y="0"/>
                </a:cubicBezTo>
                <a:close/>
              </a:path>
            </a:pathLst>
          </a:custGeom>
          <a:solidFill>
            <a:srgbClr val="1B6B3A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711482" y="120300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中文摘要</a:t>
            </a:r>
          </a:p>
        </p:txBody>
      </p:sp>
      <p:sp>
        <p:nvSpPr>
          <p:cNvPr id="9" name="Freeform 9"/>
          <p:cNvSpPr/>
          <p:nvPr/>
        </p:nvSpPr>
        <p:spPr>
          <a:xfrm>
            <a:off x="857250" y="1571625"/>
            <a:ext cx="4762500" cy="533400"/>
          </a:xfrm>
          <a:custGeom>
            <a:avLst/>
            <a:gdLst/>
            <a:ahLst/>
            <a:cxnLst/>
            <a:rect l="l" t="t" r="r" b="b"/>
            <a:pathLst>
              <a:path w="4762500" h="533400">
                <a:moveTo>
                  <a:pt x="57150" y="0"/>
                </a:moveTo>
                <a:lnTo>
                  <a:pt x="4705350" y="0"/>
                </a:lnTo>
                <a:cubicBezTo>
                  <a:pt x="4736913" y="0"/>
                  <a:pt x="4762500" y="25587"/>
                  <a:pt x="4762500" y="57150"/>
                </a:cubicBezTo>
                <a:lnTo>
                  <a:pt x="4762500" y="476250"/>
                </a:lnTo>
                <a:cubicBezTo>
                  <a:pt x="4762500" y="507813"/>
                  <a:pt x="4736913" y="533400"/>
                  <a:pt x="4705350" y="533400"/>
                </a:cubicBezTo>
                <a:lnTo>
                  <a:pt x="57150" y="533400"/>
                </a:lnTo>
                <a:cubicBezTo>
                  <a:pt x="25587" y="533400"/>
                  <a:pt x="0" y="507813"/>
                  <a:pt x="0" y="4762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BF5E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082040" y="1686878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标题格式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2040" y="1886902"/>
            <a:ext cx="30247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"摘要" · 三号黑体加粗 · 居中 · 中间空两格</a:t>
            </a:r>
          </a:p>
        </p:txBody>
      </p:sp>
      <p:sp>
        <p:nvSpPr>
          <p:cNvPr id="12" name="Freeform 12"/>
          <p:cNvSpPr/>
          <p:nvPr/>
        </p:nvSpPr>
        <p:spPr>
          <a:xfrm>
            <a:off x="857250" y="2238375"/>
            <a:ext cx="4762500" cy="666750"/>
          </a:xfrm>
          <a:custGeom>
            <a:avLst/>
            <a:gdLst/>
            <a:ahLst/>
            <a:cxnLst/>
            <a:rect l="l" t="t" r="r" b="b"/>
            <a:pathLst>
              <a:path w="4762500" h="666750">
                <a:moveTo>
                  <a:pt x="57150" y="0"/>
                </a:moveTo>
                <a:lnTo>
                  <a:pt x="4705350" y="0"/>
                </a:lnTo>
                <a:cubicBezTo>
                  <a:pt x="4736913" y="0"/>
                  <a:pt x="4762500" y="25587"/>
                  <a:pt x="4762500" y="57150"/>
                </a:cubicBezTo>
                <a:lnTo>
                  <a:pt x="4762500" y="609600"/>
                </a:lnTo>
                <a:cubicBezTo>
                  <a:pt x="4762500" y="641163"/>
                  <a:pt x="4736913" y="666750"/>
                  <a:pt x="4705350" y="666750"/>
                </a:cubicBezTo>
                <a:lnTo>
                  <a:pt x="57150" y="666750"/>
                </a:lnTo>
                <a:cubicBezTo>
                  <a:pt x="25587" y="666750"/>
                  <a:pt x="0" y="641163"/>
                  <a:pt x="0" y="609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8FAFB"/>
          </a:solidFill>
          <a:ln w="9525">
            <a:solidFill>
              <a:srgbClr val="E2E8F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082040" y="23441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正文字体</a:t>
            </a:r>
          </a:p>
        </p:txBody>
      </p:sp>
      <p:sp>
        <p:nvSpPr>
          <p:cNvPr id="14" name="Freeform 14"/>
          <p:cNvSpPr/>
          <p:nvPr/>
        </p:nvSpPr>
        <p:spPr>
          <a:xfrm>
            <a:off x="1095375" y="2543175"/>
            <a:ext cx="1905000" cy="266700"/>
          </a:xfrm>
          <a:custGeom>
            <a:avLst/>
            <a:gdLst/>
            <a:ahLst/>
            <a:cxnLst/>
            <a:rect l="l" t="t" r="r" b="b"/>
            <a:pathLst>
              <a:path w="1905000" h="26670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228600"/>
                </a:lnTo>
                <a:cubicBezTo>
                  <a:pt x="1905000" y="249642"/>
                  <a:pt x="1887942" y="266700"/>
                  <a:pt x="186690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BF5E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421130" y="261080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硕士：小四号宋体</a:t>
            </a:r>
          </a:p>
        </p:txBody>
      </p:sp>
      <p:sp>
        <p:nvSpPr>
          <p:cNvPr id="16" name="Freeform 16"/>
          <p:cNvSpPr/>
          <p:nvPr/>
        </p:nvSpPr>
        <p:spPr>
          <a:xfrm>
            <a:off x="3143250" y="2543175"/>
            <a:ext cx="1905000" cy="266700"/>
          </a:xfrm>
          <a:custGeom>
            <a:avLst/>
            <a:gdLst/>
            <a:ahLst/>
            <a:cxnLst/>
            <a:rect l="l" t="t" r="r" b="b"/>
            <a:pathLst>
              <a:path w="1905000" h="26670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228600"/>
                </a:lnTo>
                <a:cubicBezTo>
                  <a:pt x="1905000" y="249642"/>
                  <a:pt x="1887942" y="266700"/>
                  <a:pt x="186690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EF9E8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3545681" y="261080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D4A017"/>
                </a:solidFill>
                <a:latin typeface="Segoe UI"/>
                <a:ea typeface="Microsoft YaHei"/>
                <a:cs typeface="Segoe UI"/>
              </a:rPr>
              <a:t>博士：五号宋体</a:t>
            </a:r>
          </a:p>
        </p:txBody>
      </p:sp>
      <p:sp>
        <p:nvSpPr>
          <p:cNvPr id="18" name="Freeform 18"/>
          <p:cNvSpPr/>
          <p:nvPr/>
        </p:nvSpPr>
        <p:spPr>
          <a:xfrm>
            <a:off x="857250" y="3048000"/>
            <a:ext cx="4762500" cy="666750"/>
          </a:xfrm>
          <a:custGeom>
            <a:avLst/>
            <a:gdLst/>
            <a:ahLst/>
            <a:cxnLst/>
            <a:rect l="l" t="t" r="r" b="b"/>
            <a:pathLst>
              <a:path w="4762500" h="666750">
                <a:moveTo>
                  <a:pt x="57150" y="0"/>
                </a:moveTo>
                <a:lnTo>
                  <a:pt x="4705350" y="0"/>
                </a:lnTo>
                <a:cubicBezTo>
                  <a:pt x="4736913" y="0"/>
                  <a:pt x="4762500" y="25587"/>
                  <a:pt x="4762500" y="57150"/>
                </a:cubicBezTo>
                <a:lnTo>
                  <a:pt x="4762500" y="609600"/>
                </a:lnTo>
                <a:cubicBezTo>
                  <a:pt x="4762500" y="641163"/>
                  <a:pt x="4736913" y="666750"/>
                  <a:pt x="4705350" y="666750"/>
                </a:cubicBezTo>
                <a:lnTo>
                  <a:pt x="57150" y="666750"/>
                </a:lnTo>
                <a:cubicBezTo>
                  <a:pt x="25587" y="666750"/>
                  <a:pt x="0" y="641163"/>
                  <a:pt x="0" y="609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8FAFB"/>
          </a:solidFill>
          <a:ln w="9525">
            <a:solidFill>
              <a:srgbClr val="E2E8F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082040" y="3153728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行距设置</a:t>
            </a:r>
          </a:p>
        </p:txBody>
      </p:sp>
      <p:sp>
        <p:nvSpPr>
          <p:cNvPr id="20" name="Freeform 20"/>
          <p:cNvSpPr/>
          <p:nvPr/>
        </p:nvSpPr>
        <p:spPr>
          <a:xfrm>
            <a:off x="1095375" y="3352800"/>
            <a:ext cx="1905000" cy="266700"/>
          </a:xfrm>
          <a:custGeom>
            <a:avLst/>
            <a:gdLst/>
            <a:ahLst/>
            <a:cxnLst/>
            <a:rect l="l" t="t" r="r" b="b"/>
            <a:pathLst>
              <a:path w="1905000" h="26670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228600"/>
                </a:lnTo>
                <a:cubicBezTo>
                  <a:pt x="1905000" y="249642"/>
                  <a:pt x="1887942" y="266700"/>
                  <a:pt x="186690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BF5EF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325285" y="3420428"/>
            <a:ext cx="14451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硕士：多倍行距 1.25</a:t>
            </a:r>
          </a:p>
        </p:txBody>
      </p:sp>
      <p:sp>
        <p:nvSpPr>
          <p:cNvPr id="22" name="Freeform 22"/>
          <p:cNvSpPr/>
          <p:nvPr/>
        </p:nvSpPr>
        <p:spPr>
          <a:xfrm>
            <a:off x="3143250" y="3352800"/>
            <a:ext cx="1905000" cy="266700"/>
          </a:xfrm>
          <a:custGeom>
            <a:avLst/>
            <a:gdLst/>
            <a:ahLst/>
            <a:cxnLst/>
            <a:rect l="l" t="t" r="r" b="b"/>
            <a:pathLst>
              <a:path w="1905000" h="26670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228600"/>
                </a:lnTo>
                <a:cubicBezTo>
                  <a:pt x="1905000" y="249642"/>
                  <a:pt x="1887942" y="266700"/>
                  <a:pt x="186690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EF9E8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3434501" y="3420428"/>
            <a:ext cx="13224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D4A017"/>
                </a:solidFill>
                <a:latin typeface="Segoe UI"/>
                <a:ea typeface="Microsoft YaHei"/>
                <a:cs typeface="Segoe UI"/>
              </a:rPr>
              <a:t>博士：固定值 19 磅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7250" y="3857625"/>
            <a:ext cx="4762500" cy="533400"/>
          </a:xfrm>
          <a:custGeom>
            <a:avLst/>
            <a:gdLst/>
            <a:ahLst/>
            <a:cxnLst/>
            <a:rect l="l" t="t" r="r" b="b"/>
            <a:pathLst>
              <a:path w="4762500" h="533400">
                <a:moveTo>
                  <a:pt x="57150" y="0"/>
                </a:moveTo>
                <a:lnTo>
                  <a:pt x="4705350" y="0"/>
                </a:lnTo>
                <a:cubicBezTo>
                  <a:pt x="4736913" y="0"/>
                  <a:pt x="4762500" y="25587"/>
                  <a:pt x="4762500" y="57150"/>
                </a:cubicBezTo>
                <a:lnTo>
                  <a:pt x="4762500" y="476250"/>
                </a:lnTo>
                <a:cubicBezTo>
                  <a:pt x="4762500" y="507813"/>
                  <a:pt x="4736913" y="533400"/>
                  <a:pt x="4705350" y="533400"/>
                </a:cubicBezTo>
                <a:lnTo>
                  <a:pt x="57150" y="533400"/>
                </a:lnTo>
                <a:cubicBezTo>
                  <a:pt x="25587" y="533400"/>
                  <a:pt x="0" y="507813"/>
                  <a:pt x="0" y="4762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8FAFB"/>
          </a:solidFill>
          <a:ln w="9525">
            <a:solidFill>
              <a:srgbClr val="E2E8F0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082040" y="39633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段落格式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82040" y="4172902"/>
            <a:ext cx="21966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首行缩进两字符 · 段首不留空行</a:t>
            </a:r>
          </a:p>
        </p:txBody>
      </p:sp>
      <p:sp>
        <p:nvSpPr>
          <p:cNvPr id="27" name="Freeform 27"/>
          <p:cNvSpPr/>
          <p:nvPr/>
        </p:nvSpPr>
        <p:spPr>
          <a:xfrm>
            <a:off x="857250" y="4533900"/>
            <a:ext cx="4762500" cy="533400"/>
          </a:xfrm>
          <a:custGeom>
            <a:avLst/>
            <a:gdLst/>
            <a:ahLst/>
            <a:cxnLst/>
            <a:rect l="l" t="t" r="r" b="b"/>
            <a:pathLst>
              <a:path w="4762500" h="533400">
                <a:moveTo>
                  <a:pt x="57150" y="0"/>
                </a:moveTo>
                <a:lnTo>
                  <a:pt x="4705350" y="0"/>
                </a:lnTo>
                <a:cubicBezTo>
                  <a:pt x="4736913" y="0"/>
                  <a:pt x="4762500" y="25587"/>
                  <a:pt x="4762500" y="57150"/>
                </a:cubicBezTo>
                <a:lnTo>
                  <a:pt x="4762500" y="476250"/>
                </a:lnTo>
                <a:cubicBezTo>
                  <a:pt x="4762500" y="507813"/>
                  <a:pt x="4736913" y="533400"/>
                  <a:pt x="4705350" y="533400"/>
                </a:cubicBezTo>
                <a:lnTo>
                  <a:pt x="57150" y="533400"/>
                </a:lnTo>
                <a:cubicBezTo>
                  <a:pt x="25587" y="533400"/>
                  <a:pt x="0" y="507813"/>
                  <a:pt x="0" y="4762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EF9E8"/>
          </a:solidFill>
          <a:ln w="9525">
            <a:solidFill>
              <a:srgbClr val="FED7A0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1082040" y="4639628"/>
            <a:ext cx="509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A017"/>
                </a:solidFill>
                <a:latin typeface="Segoe UI"/>
                <a:ea typeface="Microsoft YaHei"/>
                <a:cs typeface="Segoe UI"/>
              </a:rPr>
              <a:t>关键词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82040" y="4849178"/>
            <a:ext cx="26413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"关键词"三字加粗 · 3-8个 · 分号间隔</a:t>
            </a:r>
          </a:p>
        </p:txBody>
      </p:sp>
      <p:sp>
        <p:nvSpPr>
          <p:cNvPr id="30" name="Freeform 30"/>
          <p:cNvSpPr/>
          <p:nvPr/>
        </p:nvSpPr>
        <p:spPr>
          <a:xfrm>
            <a:off x="857250" y="5210175"/>
            <a:ext cx="4762500" cy="342900"/>
          </a:xfrm>
          <a:custGeom>
            <a:avLst/>
            <a:gdLst/>
            <a:ahLst/>
            <a:cxnLst/>
            <a:rect l="l" t="t" r="r" b="b"/>
            <a:pathLst>
              <a:path w="4762500" h="342900">
                <a:moveTo>
                  <a:pt x="57150" y="0"/>
                </a:moveTo>
                <a:lnTo>
                  <a:pt x="4705350" y="0"/>
                </a:lnTo>
                <a:cubicBezTo>
                  <a:pt x="4736913" y="0"/>
                  <a:pt x="4762500" y="25587"/>
                  <a:pt x="4762500" y="57150"/>
                </a:cubicBezTo>
                <a:lnTo>
                  <a:pt x="4762500" y="285750"/>
                </a:lnTo>
                <a:cubicBezTo>
                  <a:pt x="4762500" y="317313"/>
                  <a:pt x="4736913" y="342900"/>
                  <a:pt x="4705350" y="342900"/>
                </a:cubicBezTo>
                <a:lnTo>
                  <a:pt x="57150" y="342900"/>
                </a:lnTo>
                <a:cubicBezTo>
                  <a:pt x="25587" y="342900"/>
                  <a:pt x="0" y="317313"/>
                  <a:pt x="0" y="2857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0FFF4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2270546" y="5315902"/>
            <a:ext cx="19359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E8A50"/>
                </a:solidFill>
                <a:latin typeface="Segoe UI"/>
                <a:ea typeface="Microsoft YaHei"/>
                <a:cs typeface="Segoe UI"/>
              </a:rPr>
              <a:t>页码：罗马数字 i, ii, iii...</a:t>
            </a:r>
          </a:p>
        </p:txBody>
      </p:sp>
      <p:sp>
        <p:nvSpPr>
          <p:cNvPr id="32" name="Freeform 32"/>
          <p:cNvSpPr/>
          <p:nvPr/>
        </p:nvSpPr>
        <p:spPr>
          <a:xfrm>
            <a:off x="6286500" y="1000125"/>
            <a:ext cx="5334000" cy="4667250"/>
          </a:xfrm>
          <a:custGeom>
            <a:avLst/>
            <a:gdLst/>
            <a:ahLst/>
            <a:cxnLst/>
            <a:rect l="l" t="t" r="r" b="b"/>
            <a:pathLst>
              <a:path w="5334000" h="46672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4572000"/>
                </a:lnTo>
                <a:cubicBezTo>
                  <a:pt x="5334000" y="4624605"/>
                  <a:pt x="5291355" y="4667250"/>
                  <a:pt x="5238750" y="4667250"/>
                </a:cubicBezTo>
                <a:lnTo>
                  <a:pt x="95250" y="4667250"/>
                </a:lnTo>
                <a:cubicBezTo>
                  <a:pt x="42645" y="4667250"/>
                  <a:pt x="0" y="4624605"/>
                  <a:pt x="0" y="4572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2E8F0"/>
            </a:solidFill>
          </a:ln>
        </p:spPr>
      </p:sp>
      <p:sp>
        <p:nvSpPr>
          <p:cNvPr id="33" name="Freeform 33"/>
          <p:cNvSpPr/>
          <p:nvPr/>
        </p:nvSpPr>
        <p:spPr>
          <a:xfrm>
            <a:off x="6286500" y="1000125"/>
            <a:ext cx="5334000" cy="76200"/>
          </a:xfrm>
          <a:custGeom>
            <a:avLst/>
            <a:gdLst/>
            <a:ahLst/>
            <a:cxnLst/>
            <a:rect l="l" t="t" r="r" b="b"/>
            <a:pathLst>
              <a:path w="5334000" h="76200">
                <a:moveTo>
                  <a:pt x="47625" y="0"/>
                </a:moveTo>
                <a:lnTo>
                  <a:pt x="5286375" y="0"/>
                </a:lnTo>
                <a:cubicBezTo>
                  <a:pt x="5312678" y="0"/>
                  <a:pt x="5334000" y="17058"/>
                  <a:pt x="5334000" y="38100"/>
                </a:cubicBezTo>
                <a:lnTo>
                  <a:pt x="5334000" y="38100"/>
                </a:lnTo>
                <a:cubicBezTo>
                  <a:pt x="5334000" y="59142"/>
                  <a:pt x="5312678" y="76200"/>
                  <a:pt x="5286375" y="76200"/>
                </a:cubicBezTo>
                <a:lnTo>
                  <a:pt x="47625" y="76200"/>
                </a:lnTo>
                <a:cubicBezTo>
                  <a:pt x="21322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21322" y="0"/>
                  <a:pt x="47625" y="0"/>
                </a:cubicBezTo>
                <a:close/>
              </a:path>
            </a:pathLst>
          </a:custGeom>
          <a:solidFill>
            <a:srgbClr val="2E8A50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8426482" y="120300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E8A50"/>
                </a:solidFill>
                <a:latin typeface="Segoe UI"/>
                <a:ea typeface="Microsoft YaHei"/>
                <a:cs typeface="Segoe UI"/>
              </a:rPr>
              <a:t>英文摘要</a:t>
            </a:r>
          </a:p>
        </p:txBody>
      </p:sp>
      <p:sp>
        <p:nvSpPr>
          <p:cNvPr id="35" name="Freeform 35"/>
          <p:cNvSpPr/>
          <p:nvPr/>
        </p:nvSpPr>
        <p:spPr>
          <a:xfrm>
            <a:off x="6572250" y="1571625"/>
            <a:ext cx="4762500" cy="533400"/>
          </a:xfrm>
          <a:custGeom>
            <a:avLst/>
            <a:gdLst/>
            <a:ahLst/>
            <a:cxnLst/>
            <a:rect l="l" t="t" r="r" b="b"/>
            <a:pathLst>
              <a:path w="4762500" h="533400">
                <a:moveTo>
                  <a:pt x="57150" y="0"/>
                </a:moveTo>
                <a:lnTo>
                  <a:pt x="4705350" y="0"/>
                </a:lnTo>
                <a:cubicBezTo>
                  <a:pt x="4736913" y="0"/>
                  <a:pt x="4762500" y="25587"/>
                  <a:pt x="4762500" y="57150"/>
                </a:cubicBezTo>
                <a:lnTo>
                  <a:pt x="4762500" y="476250"/>
                </a:lnTo>
                <a:cubicBezTo>
                  <a:pt x="4762500" y="507813"/>
                  <a:pt x="4736913" y="533400"/>
                  <a:pt x="4705350" y="533400"/>
                </a:cubicBezTo>
                <a:lnTo>
                  <a:pt x="57150" y="533400"/>
                </a:lnTo>
                <a:cubicBezTo>
                  <a:pt x="25587" y="533400"/>
                  <a:pt x="0" y="507813"/>
                  <a:pt x="0" y="4762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BF5EF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797040" y="1686878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标题格式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797040" y="1886902"/>
            <a:ext cx="34310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"Abstract" · 三号 Times New Roman · 加粗居中</a:t>
            </a:r>
          </a:p>
        </p:txBody>
      </p:sp>
      <p:sp>
        <p:nvSpPr>
          <p:cNvPr id="38" name="Freeform 38"/>
          <p:cNvSpPr/>
          <p:nvPr/>
        </p:nvSpPr>
        <p:spPr>
          <a:xfrm>
            <a:off x="6572250" y="2238375"/>
            <a:ext cx="4762500" cy="666750"/>
          </a:xfrm>
          <a:custGeom>
            <a:avLst/>
            <a:gdLst/>
            <a:ahLst/>
            <a:cxnLst/>
            <a:rect l="l" t="t" r="r" b="b"/>
            <a:pathLst>
              <a:path w="4762500" h="666750">
                <a:moveTo>
                  <a:pt x="57150" y="0"/>
                </a:moveTo>
                <a:lnTo>
                  <a:pt x="4705350" y="0"/>
                </a:lnTo>
                <a:cubicBezTo>
                  <a:pt x="4736913" y="0"/>
                  <a:pt x="4762500" y="25587"/>
                  <a:pt x="4762500" y="57150"/>
                </a:cubicBezTo>
                <a:lnTo>
                  <a:pt x="4762500" y="609600"/>
                </a:lnTo>
                <a:cubicBezTo>
                  <a:pt x="4762500" y="641163"/>
                  <a:pt x="4736913" y="666750"/>
                  <a:pt x="4705350" y="666750"/>
                </a:cubicBezTo>
                <a:lnTo>
                  <a:pt x="57150" y="666750"/>
                </a:lnTo>
                <a:cubicBezTo>
                  <a:pt x="25587" y="666750"/>
                  <a:pt x="0" y="641163"/>
                  <a:pt x="0" y="609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8FAFB"/>
          </a:solidFill>
          <a:ln w="9525">
            <a:solidFill>
              <a:srgbClr val="E2E8F0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6797040" y="23441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正文字体</a:t>
            </a:r>
          </a:p>
        </p:txBody>
      </p:sp>
      <p:sp>
        <p:nvSpPr>
          <p:cNvPr id="40" name="Freeform 40"/>
          <p:cNvSpPr/>
          <p:nvPr/>
        </p:nvSpPr>
        <p:spPr>
          <a:xfrm>
            <a:off x="6810375" y="2543175"/>
            <a:ext cx="2000250" cy="266700"/>
          </a:xfrm>
          <a:custGeom>
            <a:avLst/>
            <a:gdLst/>
            <a:ahLst/>
            <a:cxnLst/>
            <a:rect l="l" t="t" r="r" b="b"/>
            <a:pathLst>
              <a:path w="2000250" h="266700">
                <a:moveTo>
                  <a:pt x="38100" y="0"/>
                </a:moveTo>
                <a:lnTo>
                  <a:pt x="1962150" y="0"/>
                </a:lnTo>
                <a:cubicBezTo>
                  <a:pt x="1983192" y="0"/>
                  <a:pt x="2000250" y="17058"/>
                  <a:pt x="2000250" y="38100"/>
                </a:cubicBezTo>
                <a:lnTo>
                  <a:pt x="2000250" y="228600"/>
                </a:lnTo>
                <a:cubicBezTo>
                  <a:pt x="2000250" y="249642"/>
                  <a:pt x="1983192" y="266700"/>
                  <a:pt x="196215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BF5E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7187589" y="2610802"/>
            <a:ext cx="12458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硕士：小四号 TNR</a:t>
            </a:r>
          </a:p>
        </p:txBody>
      </p:sp>
      <p:sp>
        <p:nvSpPr>
          <p:cNvPr id="42" name="Freeform 42"/>
          <p:cNvSpPr/>
          <p:nvPr/>
        </p:nvSpPr>
        <p:spPr>
          <a:xfrm>
            <a:off x="8953500" y="2543175"/>
            <a:ext cx="1905000" cy="266700"/>
          </a:xfrm>
          <a:custGeom>
            <a:avLst/>
            <a:gdLst/>
            <a:ahLst/>
            <a:cxnLst/>
            <a:rect l="l" t="t" r="r" b="b"/>
            <a:pathLst>
              <a:path w="1905000" h="26670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228600"/>
                </a:lnTo>
                <a:cubicBezTo>
                  <a:pt x="1905000" y="249642"/>
                  <a:pt x="1887942" y="266700"/>
                  <a:pt x="186690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EF9E8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9359765" y="2610802"/>
            <a:ext cx="10924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D4A017"/>
                </a:solidFill>
                <a:latin typeface="Segoe UI"/>
                <a:ea typeface="Microsoft YaHei"/>
                <a:cs typeface="Segoe UI"/>
              </a:rPr>
              <a:t>博士：五号 TNR</a:t>
            </a:r>
          </a:p>
        </p:txBody>
      </p:sp>
      <p:sp>
        <p:nvSpPr>
          <p:cNvPr id="44" name="Freeform 44"/>
          <p:cNvSpPr/>
          <p:nvPr/>
        </p:nvSpPr>
        <p:spPr>
          <a:xfrm>
            <a:off x="6572250" y="3048000"/>
            <a:ext cx="4762500" cy="666750"/>
          </a:xfrm>
          <a:custGeom>
            <a:avLst/>
            <a:gdLst/>
            <a:ahLst/>
            <a:cxnLst/>
            <a:rect l="l" t="t" r="r" b="b"/>
            <a:pathLst>
              <a:path w="4762500" h="666750">
                <a:moveTo>
                  <a:pt x="57150" y="0"/>
                </a:moveTo>
                <a:lnTo>
                  <a:pt x="4705350" y="0"/>
                </a:lnTo>
                <a:cubicBezTo>
                  <a:pt x="4736913" y="0"/>
                  <a:pt x="4762500" y="25587"/>
                  <a:pt x="4762500" y="57150"/>
                </a:cubicBezTo>
                <a:lnTo>
                  <a:pt x="4762500" y="609600"/>
                </a:lnTo>
                <a:cubicBezTo>
                  <a:pt x="4762500" y="641163"/>
                  <a:pt x="4736913" y="666750"/>
                  <a:pt x="4705350" y="666750"/>
                </a:cubicBezTo>
                <a:lnTo>
                  <a:pt x="57150" y="666750"/>
                </a:lnTo>
                <a:cubicBezTo>
                  <a:pt x="25587" y="666750"/>
                  <a:pt x="0" y="641163"/>
                  <a:pt x="0" y="609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8FAFB"/>
          </a:solidFill>
          <a:ln w="9525">
            <a:solidFill>
              <a:srgbClr val="E2E8F0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6797040" y="3153728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行距设置</a:t>
            </a:r>
          </a:p>
        </p:txBody>
      </p:sp>
      <p:sp>
        <p:nvSpPr>
          <p:cNvPr id="46" name="Freeform 46"/>
          <p:cNvSpPr/>
          <p:nvPr/>
        </p:nvSpPr>
        <p:spPr>
          <a:xfrm>
            <a:off x="6810375" y="3352800"/>
            <a:ext cx="2000250" cy="266700"/>
          </a:xfrm>
          <a:custGeom>
            <a:avLst/>
            <a:gdLst/>
            <a:ahLst/>
            <a:cxnLst/>
            <a:rect l="l" t="t" r="r" b="b"/>
            <a:pathLst>
              <a:path w="2000250" h="266700">
                <a:moveTo>
                  <a:pt x="38100" y="0"/>
                </a:moveTo>
                <a:lnTo>
                  <a:pt x="1962150" y="0"/>
                </a:lnTo>
                <a:cubicBezTo>
                  <a:pt x="1983192" y="0"/>
                  <a:pt x="2000250" y="17058"/>
                  <a:pt x="2000250" y="38100"/>
                </a:cubicBezTo>
                <a:lnTo>
                  <a:pt x="2000250" y="228600"/>
                </a:lnTo>
                <a:cubicBezTo>
                  <a:pt x="2000250" y="249642"/>
                  <a:pt x="1983192" y="266700"/>
                  <a:pt x="196215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BF5EF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7087910" y="3420428"/>
            <a:ext cx="14451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硕士：多倍行距 1.25</a:t>
            </a:r>
          </a:p>
        </p:txBody>
      </p:sp>
      <p:sp>
        <p:nvSpPr>
          <p:cNvPr id="48" name="Freeform 48"/>
          <p:cNvSpPr/>
          <p:nvPr/>
        </p:nvSpPr>
        <p:spPr>
          <a:xfrm>
            <a:off x="8953500" y="3352800"/>
            <a:ext cx="1905000" cy="266700"/>
          </a:xfrm>
          <a:custGeom>
            <a:avLst/>
            <a:gdLst/>
            <a:ahLst/>
            <a:cxnLst/>
            <a:rect l="l" t="t" r="r" b="b"/>
            <a:pathLst>
              <a:path w="1905000" h="26670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228600"/>
                </a:lnTo>
                <a:cubicBezTo>
                  <a:pt x="1905000" y="249642"/>
                  <a:pt x="1887942" y="266700"/>
                  <a:pt x="186690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EF9E8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9244751" y="3420428"/>
            <a:ext cx="13224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D4A017"/>
                </a:solidFill>
                <a:latin typeface="Segoe UI"/>
                <a:ea typeface="Microsoft YaHei"/>
                <a:cs typeface="Segoe UI"/>
              </a:rPr>
              <a:t>博士：固定值 19 磅</a:t>
            </a:r>
          </a:p>
        </p:txBody>
      </p:sp>
      <p:sp>
        <p:nvSpPr>
          <p:cNvPr id="50" name="Freeform 50"/>
          <p:cNvSpPr/>
          <p:nvPr/>
        </p:nvSpPr>
        <p:spPr>
          <a:xfrm>
            <a:off x="6572250" y="3857625"/>
            <a:ext cx="4762500" cy="533400"/>
          </a:xfrm>
          <a:custGeom>
            <a:avLst/>
            <a:gdLst/>
            <a:ahLst/>
            <a:cxnLst/>
            <a:rect l="l" t="t" r="r" b="b"/>
            <a:pathLst>
              <a:path w="4762500" h="533400">
                <a:moveTo>
                  <a:pt x="57150" y="0"/>
                </a:moveTo>
                <a:lnTo>
                  <a:pt x="4705350" y="0"/>
                </a:lnTo>
                <a:cubicBezTo>
                  <a:pt x="4736913" y="0"/>
                  <a:pt x="4762500" y="25587"/>
                  <a:pt x="4762500" y="57150"/>
                </a:cubicBezTo>
                <a:lnTo>
                  <a:pt x="4762500" y="476250"/>
                </a:lnTo>
                <a:cubicBezTo>
                  <a:pt x="4762500" y="507813"/>
                  <a:pt x="4736913" y="533400"/>
                  <a:pt x="4705350" y="533400"/>
                </a:cubicBezTo>
                <a:lnTo>
                  <a:pt x="57150" y="533400"/>
                </a:lnTo>
                <a:cubicBezTo>
                  <a:pt x="25587" y="533400"/>
                  <a:pt x="0" y="507813"/>
                  <a:pt x="0" y="4762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8FAFB"/>
          </a:solidFill>
          <a:ln w="9525">
            <a:solidFill>
              <a:srgbClr val="E2E8F0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6797040" y="39633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段落格式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797040" y="4172902"/>
            <a:ext cx="21966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首行缩进两字符 · 段首不留空行</a:t>
            </a:r>
          </a:p>
        </p:txBody>
      </p:sp>
      <p:sp>
        <p:nvSpPr>
          <p:cNvPr id="53" name="Freeform 53"/>
          <p:cNvSpPr/>
          <p:nvPr/>
        </p:nvSpPr>
        <p:spPr>
          <a:xfrm>
            <a:off x="6572250" y="4533900"/>
            <a:ext cx="4762500" cy="533400"/>
          </a:xfrm>
          <a:custGeom>
            <a:avLst/>
            <a:gdLst/>
            <a:ahLst/>
            <a:cxnLst/>
            <a:rect l="l" t="t" r="r" b="b"/>
            <a:pathLst>
              <a:path w="4762500" h="533400">
                <a:moveTo>
                  <a:pt x="57150" y="0"/>
                </a:moveTo>
                <a:lnTo>
                  <a:pt x="4705350" y="0"/>
                </a:lnTo>
                <a:cubicBezTo>
                  <a:pt x="4736913" y="0"/>
                  <a:pt x="4762500" y="25587"/>
                  <a:pt x="4762500" y="57150"/>
                </a:cubicBezTo>
                <a:lnTo>
                  <a:pt x="4762500" y="476250"/>
                </a:lnTo>
                <a:cubicBezTo>
                  <a:pt x="4762500" y="507813"/>
                  <a:pt x="4736913" y="533400"/>
                  <a:pt x="4705350" y="533400"/>
                </a:cubicBezTo>
                <a:lnTo>
                  <a:pt x="57150" y="533400"/>
                </a:lnTo>
                <a:cubicBezTo>
                  <a:pt x="25587" y="533400"/>
                  <a:pt x="0" y="507813"/>
                  <a:pt x="0" y="4762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EF9E8"/>
          </a:solidFill>
          <a:ln w="9525">
            <a:solidFill>
              <a:srgbClr val="FED7A0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6797040" y="4639628"/>
            <a:ext cx="7673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A017"/>
                </a:solidFill>
                <a:latin typeface="Segoe UI"/>
                <a:ea typeface="Microsoft YaHei"/>
                <a:cs typeface="Segoe UI"/>
              </a:rPr>
              <a:t>Keywords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797040" y="4849178"/>
            <a:ext cx="29403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"Keywords"加粗 · 字号同正文 · 分号间隔</a:t>
            </a:r>
          </a:p>
        </p:txBody>
      </p:sp>
      <p:sp>
        <p:nvSpPr>
          <p:cNvPr id="56" name="Freeform 56"/>
          <p:cNvSpPr/>
          <p:nvPr/>
        </p:nvSpPr>
        <p:spPr>
          <a:xfrm>
            <a:off x="6572250" y="5210175"/>
            <a:ext cx="4762500" cy="342900"/>
          </a:xfrm>
          <a:custGeom>
            <a:avLst/>
            <a:gdLst/>
            <a:ahLst/>
            <a:cxnLst/>
            <a:rect l="l" t="t" r="r" b="b"/>
            <a:pathLst>
              <a:path w="4762500" h="342900">
                <a:moveTo>
                  <a:pt x="57150" y="0"/>
                </a:moveTo>
                <a:lnTo>
                  <a:pt x="4705350" y="0"/>
                </a:lnTo>
                <a:cubicBezTo>
                  <a:pt x="4736913" y="0"/>
                  <a:pt x="4762500" y="25587"/>
                  <a:pt x="4762500" y="57150"/>
                </a:cubicBezTo>
                <a:lnTo>
                  <a:pt x="4762500" y="285750"/>
                </a:lnTo>
                <a:cubicBezTo>
                  <a:pt x="4762500" y="317313"/>
                  <a:pt x="4736913" y="342900"/>
                  <a:pt x="4705350" y="342900"/>
                </a:cubicBezTo>
                <a:lnTo>
                  <a:pt x="57150" y="342900"/>
                </a:lnTo>
                <a:cubicBezTo>
                  <a:pt x="25587" y="342900"/>
                  <a:pt x="0" y="317313"/>
                  <a:pt x="0" y="2857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5F5"/>
          </a:solidFill>
          <a:ln w="9525">
            <a:solidFill>
              <a:srgbClr val="FEB2B2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7100614" y="5323999"/>
            <a:ext cx="370577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53E3E"/>
                </a:solidFill>
                <a:latin typeface="Segoe UI"/>
                <a:ea typeface="Microsoft YaHei"/>
                <a:cs typeface="Segoe UI"/>
              </a:rPr>
              <a:t>非中文论文须附中文摘要：博士 ≥8000 字 / 硕士 ≥3000 字</a:t>
            </a:r>
          </a:p>
        </p:txBody>
      </p:sp>
      <p:sp>
        <p:nvSpPr>
          <p:cNvPr id="58" name="Rectangle 58"/>
          <p:cNvSpPr/>
          <p:nvPr/>
        </p:nvSpPr>
        <p:spPr>
          <a:xfrm>
            <a:off x="571500" y="60960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941070" y="6189345"/>
            <a:ext cx="25203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华中师范大学研究生学位论文撰写格式标准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933408" y="6189345"/>
            <a:ext cx="3251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Arial"/>
                <a:ea typeface="Microsoft YaHei"/>
                <a:cs typeface="Arial"/>
              </a:rPr>
              <a:t>5 / 11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B6B3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961382" y="255270"/>
            <a:ext cx="226923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正文撰写规范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41570" y="632460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标题层级结构与字体格式要求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000125"/>
            <a:ext cx="3429000" cy="3619500"/>
          </a:xfrm>
          <a:custGeom>
            <a:avLst/>
            <a:gdLst/>
            <a:ahLst/>
            <a:cxnLst/>
            <a:rect l="l" t="t" r="r" b="b"/>
            <a:pathLst>
              <a:path w="3429000" h="36195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3524250"/>
                </a:lnTo>
                <a:cubicBezTo>
                  <a:pt x="3429000" y="3576855"/>
                  <a:pt x="3386355" y="3619500"/>
                  <a:pt x="3333750" y="3619500"/>
                </a:cubicBezTo>
                <a:lnTo>
                  <a:pt x="95250" y="3619500"/>
                </a:lnTo>
                <a:cubicBezTo>
                  <a:pt x="42645" y="3619500"/>
                  <a:pt x="0" y="3576855"/>
                  <a:pt x="0" y="3524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2E8F0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571500" y="1000125"/>
            <a:ext cx="3429000" cy="76200"/>
          </a:xfrm>
          <a:custGeom>
            <a:avLst/>
            <a:gdLst/>
            <a:ahLst/>
            <a:cxnLst/>
            <a:rect l="l" t="t" r="r" b="b"/>
            <a:pathLst>
              <a:path w="3429000" h="76200">
                <a:moveTo>
                  <a:pt x="47625" y="0"/>
                </a:moveTo>
                <a:lnTo>
                  <a:pt x="3381375" y="0"/>
                </a:lnTo>
                <a:cubicBezTo>
                  <a:pt x="3407678" y="0"/>
                  <a:pt x="3429000" y="17058"/>
                  <a:pt x="3429000" y="38100"/>
                </a:cubicBezTo>
                <a:lnTo>
                  <a:pt x="3429000" y="38100"/>
                </a:lnTo>
                <a:cubicBezTo>
                  <a:pt x="3429000" y="59142"/>
                  <a:pt x="3407678" y="76200"/>
                  <a:pt x="3381375" y="76200"/>
                </a:cubicBezTo>
                <a:lnTo>
                  <a:pt x="47625" y="76200"/>
                </a:lnTo>
                <a:cubicBezTo>
                  <a:pt x="21322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21322" y="0"/>
                  <a:pt x="47625" y="0"/>
                </a:cubicBezTo>
                <a:close/>
              </a:path>
            </a:pathLst>
          </a:custGeom>
          <a:solidFill>
            <a:srgbClr val="1B6B3A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806892" y="120015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一级标题</a:t>
            </a:r>
          </a:p>
        </p:txBody>
      </p:sp>
      <p:sp>
        <p:nvSpPr>
          <p:cNvPr id="9" name="Freeform 9"/>
          <p:cNvSpPr/>
          <p:nvPr/>
        </p:nvSpPr>
        <p:spPr>
          <a:xfrm>
            <a:off x="857250" y="1504950"/>
            <a:ext cx="2857500" cy="419100"/>
          </a:xfrm>
          <a:custGeom>
            <a:avLst/>
            <a:gdLst/>
            <a:ahLst/>
            <a:cxnLst/>
            <a:rect l="l" t="t" r="r" b="b"/>
            <a:pathLst>
              <a:path w="2857500" h="419100">
                <a:moveTo>
                  <a:pt x="57150" y="0"/>
                </a:moveTo>
                <a:lnTo>
                  <a:pt x="2800350" y="0"/>
                </a:lnTo>
                <a:cubicBezTo>
                  <a:pt x="2831913" y="0"/>
                  <a:pt x="2857500" y="25587"/>
                  <a:pt x="2857500" y="57150"/>
                </a:cubicBezTo>
                <a:lnTo>
                  <a:pt x="2857500" y="361950"/>
                </a:lnTo>
                <a:cubicBezTo>
                  <a:pt x="2857500" y="393513"/>
                  <a:pt x="2831913" y="419100"/>
                  <a:pt x="2800350" y="419100"/>
                </a:cubicBezTo>
                <a:lnTo>
                  <a:pt x="57150" y="419100"/>
                </a:lnTo>
                <a:cubicBezTo>
                  <a:pt x="25587" y="419100"/>
                  <a:pt x="0" y="393513"/>
                  <a:pt x="0" y="3619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BF5E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636252" y="1553528"/>
            <a:ext cx="12994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示例：第一章 绪论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32823" y="1733074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（阿拉伯数字编号）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2962" y="203120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字体要求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3915" y="2267902"/>
            <a:ext cx="10771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三号黑体加粗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3915" y="2477452"/>
            <a:ext cx="7704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居中排列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2962" y="2783681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位置要求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3915" y="3020378"/>
            <a:ext cx="10771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3E3E"/>
                </a:solidFill>
                <a:latin typeface="Segoe UI"/>
                <a:ea typeface="Microsoft YaHei"/>
                <a:cs typeface="Segoe UI"/>
              </a:rPr>
              <a:t>· 另起一页开始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3915" y="3229928"/>
            <a:ext cx="12304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章题之前空一行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2962" y="35361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编号格式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3915" y="3772852"/>
            <a:ext cx="15065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第一章 / 第二章...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3915" y="3963352"/>
            <a:ext cx="15295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或 1. / 2. / 3. 格式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4868" y="4276249"/>
            <a:ext cx="14345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对应 Word 标题 1 样式</a:t>
            </a:r>
          </a:p>
        </p:txBody>
      </p:sp>
      <p:sp>
        <p:nvSpPr>
          <p:cNvPr id="22" name="Freeform 22"/>
          <p:cNvSpPr/>
          <p:nvPr/>
        </p:nvSpPr>
        <p:spPr>
          <a:xfrm>
            <a:off x="4381500" y="1000125"/>
            <a:ext cx="3429000" cy="3619500"/>
          </a:xfrm>
          <a:custGeom>
            <a:avLst/>
            <a:gdLst/>
            <a:ahLst/>
            <a:cxnLst/>
            <a:rect l="l" t="t" r="r" b="b"/>
            <a:pathLst>
              <a:path w="3429000" h="36195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3524250"/>
                </a:lnTo>
                <a:cubicBezTo>
                  <a:pt x="3429000" y="3576855"/>
                  <a:pt x="3386355" y="3619500"/>
                  <a:pt x="3333750" y="3619500"/>
                </a:cubicBezTo>
                <a:lnTo>
                  <a:pt x="95250" y="3619500"/>
                </a:lnTo>
                <a:cubicBezTo>
                  <a:pt x="42645" y="3619500"/>
                  <a:pt x="0" y="3576855"/>
                  <a:pt x="0" y="3524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2E8F0"/>
            </a:solidFill>
          </a:ln>
        </p:spPr>
      </p:sp>
      <p:sp>
        <p:nvSpPr>
          <p:cNvPr id="23" name="Freeform 23"/>
          <p:cNvSpPr/>
          <p:nvPr/>
        </p:nvSpPr>
        <p:spPr>
          <a:xfrm>
            <a:off x="4381500" y="1000125"/>
            <a:ext cx="3429000" cy="76200"/>
          </a:xfrm>
          <a:custGeom>
            <a:avLst/>
            <a:gdLst/>
            <a:ahLst/>
            <a:cxnLst/>
            <a:rect l="l" t="t" r="r" b="b"/>
            <a:pathLst>
              <a:path w="3429000" h="76200">
                <a:moveTo>
                  <a:pt x="47625" y="0"/>
                </a:moveTo>
                <a:lnTo>
                  <a:pt x="3381375" y="0"/>
                </a:lnTo>
                <a:cubicBezTo>
                  <a:pt x="3407678" y="0"/>
                  <a:pt x="3429000" y="17058"/>
                  <a:pt x="3429000" y="38100"/>
                </a:cubicBezTo>
                <a:lnTo>
                  <a:pt x="3429000" y="38100"/>
                </a:lnTo>
                <a:cubicBezTo>
                  <a:pt x="3429000" y="59142"/>
                  <a:pt x="3407678" y="76200"/>
                  <a:pt x="3381375" y="76200"/>
                </a:cubicBezTo>
                <a:lnTo>
                  <a:pt x="47625" y="76200"/>
                </a:lnTo>
                <a:cubicBezTo>
                  <a:pt x="21322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21322" y="0"/>
                  <a:pt x="47625" y="0"/>
                </a:cubicBezTo>
                <a:close/>
              </a:path>
            </a:pathLst>
          </a:custGeom>
          <a:solidFill>
            <a:srgbClr val="2E8A5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616892" y="120015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E8A50"/>
                </a:solidFill>
                <a:latin typeface="Segoe UI"/>
                <a:ea typeface="Microsoft YaHei"/>
                <a:cs typeface="Segoe UI"/>
              </a:rPr>
              <a:t>二级标题</a:t>
            </a:r>
          </a:p>
        </p:txBody>
      </p:sp>
      <p:sp>
        <p:nvSpPr>
          <p:cNvPr id="25" name="Freeform 25"/>
          <p:cNvSpPr/>
          <p:nvPr/>
        </p:nvSpPr>
        <p:spPr>
          <a:xfrm>
            <a:off x="4667250" y="1504950"/>
            <a:ext cx="2857500" cy="419100"/>
          </a:xfrm>
          <a:custGeom>
            <a:avLst/>
            <a:gdLst/>
            <a:ahLst/>
            <a:cxnLst/>
            <a:rect l="l" t="t" r="r" b="b"/>
            <a:pathLst>
              <a:path w="2857500" h="419100">
                <a:moveTo>
                  <a:pt x="57150" y="0"/>
                </a:moveTo>
                <a:lnTo>
                  <a:pt x="2800350" y="0"/>
                </a:lnTo>
                <a:cubicBezTo>
                  <a:pt x="2831913" y="0"/>
                  <a:pt x="2857500" y="25587"/>
                  <a:pt x="2857500" y="57150"/>
                </a:cubicBezTo>
                <a:lnTo>
                  <a:pt x="2857500" y="361950"/>
                </a:lnTo>
                <a:cubicBezTo>
                  <a:pt x="2857500" y="393513"/>
                  <a:pt x="2831913" y="419100"/>
                  <a:pt x="2800350" y="419100"/>
                </a:cubicBezTo>
                <a:lnTo>
                  <a:pt x="57150" y="419100"/>
                </a:lnTo>
                <a:cubicBezTo>
                  <a:pt x="25587" y="419100"/>
                  <a:pt x="0" y="393513"/>
                  <a:pt x="0" y="3619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BF5EF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5434751" y="1553528"/>
            <a:ext cx="13224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示例：1.1 研究背景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474863" y="1733074"/>
            <a:ext cx="12422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（数字+点号格式）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652962" y="203120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字体要求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653915" y="2267902"/>
            <a:ext cx="10771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四号黑体加粗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653915" y="2477452"/>
            <a:ext cx="12304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首行缩进两字符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652962" y="2783681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位置要求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653915" y="3020378"/>
            <a:ext cx="12304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不单独另起一页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653915" y="3229928"/>
            <a:ext cx="13838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与所属一级章连续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652962" y="35361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编号格式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653915" y="3772852"/>
            <a:ext cx="13685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1.1 / 1.2 / 2.1...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653915" y="3963352"/>
            <a:ext cx="12304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阿拉伯数字编号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654868" y="4276249"/>
            <a:ext cx="14701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对应 Word 标题 2 样式</a:t>
            </a:r>
          </a:p>
        </p:txBody>
      </p:sp>
      <p:sp>
        <p:nvSpPr>
          <p:cNvPr id="38" name="Freeform 38"/>
          <p:cNvSpPr/>
          <p:nvPr/>
        </p:nvSpPr>
        <p:spPr>
          <a:xfrm>
            <a:off x="8191500" y="1000125"/>
            <a:ext cx="3429000" cy="3619500"/>
          </a:xfrm>
          <a:custGeom>
            <a:avLst/>
            <a:gdLst/>
            <a:ahLst/>
            <a:cxnLst/>
            <a:rect l="l" t="t" r="r" b="b"/>
            <a:pathLst>
              <a:path w="3429000" h="36195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3524250"/>
                </a:lnTo>
                <a:cubicBezTo>
                  <a:pt x="3429000" y="3576855"/>
                  <a:pt x="3386355" y="3619500"/>
                  <a:pt x="3333750" y="3619500"/>
                </a:cubicBezTo>
                <a:lnTo>
                  <a:pt x="95250" y="3619500"/>
                </a:lnTo>
                <a:cubicBezTo>
                  <a:pt x="42645" y="3619500"/>
                  <a:pt x="0" y="3576855"/>
                  <a:pt x="0" y="3524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2E8F0"/>
            </a:solidFill>
          </a:ln>
        </p:spPr>
      </p:sp>
      <p:sp>
        <p:nvSpPr>
          <p:cNvPr id="39" name="Freeform 39"/>
          <p:cNvSpPr/>
          <p:nvPr/>
        </p:nvSpPr>
        <p:spPr>
          <a:xfrm>
            <a:off x="8191500" y="1000125"/>
            <a:ext cx="3429000" cy="76200"/>
          </a:xfrm>
          <a:custGeom>
            <a:avLst/>
            <a:gdLst/>
            <a:ahLst/>
            <a:cxnLst/>
            <a:rect l="l" t="t" r="r" b="b"/>
            <a:pathLst>
              <a:path w="3429000" h="76200">
                <a:moveTo>
                  <a:pt x="47625" y="0"/>
                </a:moveTo>
                <a:lnTo>
                  <a:pt x="3381375" y="0"/>
                </a:lnTo>
                <a:cubicBezTo>
                  <a:pt x="3407678" y="0"/>
                  <a:pt x="3429000" y="17058"/>
                  <a:pt x="3429000" y="38100"/>
                </a:cubicBezTo>
                <a:lnTo>
                  <a:pt x="3429000" y="38100"/>
                </a:lnTo>
                <a:cubicBezTo>
                  <a:pt x="3429000" y="59142"/>
                  <a:pt x="3407678" y="76200"/>
                  <a:pt x="3381375" y="76200"/>
                </a:cubicBezTo>
                <a:lnTo>
                  <a:pt x="47625" y="76200"/>
                </a:lnTo>
                <a:cubicBezTo>
                  <a:pt x="21322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21322" y="0"/>
                  <a:pt x="47625" y="0"/>
                </a:cubicBezTo>
                <a:close/>
              </a:path>
            </a:pathLst>
          </a:custGeom>
          <a:solidFill>
            <a:srgbClr val="D4A017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9064597" y="1200150"/>
            <a:ext cx="168280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D4A017"/>
                </a:solidFill>
                <a:latin typeface="Segoe UI"/>
                <a:ea typeface="Microsoft YaHei"/>
                <a:cs typeface="Segoe UI"/>
              </a:rPr>
              <a:t>三级标题 &amp; 正文</a:t>
            </a:r>
          </a:p>
        </p:txBody>
      </p:sp>
      <p:sp>
        <p:nvSpPr>
          <p:cNvPr id="41" name="Freeform 41"/>
          <p:cNvSpPr/>
          <p:nvPr/>
        </p:nvSpPr>
        <p:spPr>
          <a:xfrm>
            <a:off x="8477250" y="1504950"/>
            <a:ext cx="2857500" cy="419100"/>
          </a:xfrm>
          <a:custGeom>
            <a:avLst/>
            <a:gdLst/>
            <a:ahLst/>
            <a:cxnLst/>
            <a:rect l="l" t="t" r="r" b="b"/>
            <a:pathLst>
              <a:path w="2857500" h="419100">
                <a:moveTo>
                  <a:pt x="57150" y="0"/>
                </a:moveTo>
                <a:lnTo>
                  <a:pt x="2800350" y="0"/>
                </a:lnTo>
                <a:cubicBezTo>
                  <a:pt x="2831913" y="0"/>
                  <a:pt x="2857500" y="25587"/>
                  <a:pt x="2857500" y="57150"/>
                </a:cubicBezTo>
                <a:lnTo>
                  <a:pt x="2857500" y="361950"/>
                </a:lnTo>
                <a:cubicBezTo>
                  <a:pt x="2857500" y="393513"/>
                  <a:pt x="2831913" y="419100"/>
                  <a:pt x="2800350" y="419100"/>
                </a:cubicBezTo>
                <a:lnTo>
                  <a:pt x="57150" y="419100"/>
                </a:lnTo>
                <a:cubicBezTo>
                  <a:pt x="25587" y="419100"/>
                  <a:pt x="0" y="393513"/>
                  <a:pt x="0" y="3619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EF9E8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179576" y="1553528"/>
            <a:ext cx="14528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D4A017"/>
                </a:solidFill>
                <a:latin typeface="Segoe UI"/>
                <a:ea typeface="Microsoft YaHei"/>
                <a:cs typeface="Segoe UI"/>
              </a:rPr>
              <a:t>示例：1.1.1 问题提出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324022" y="1733074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（三级数字编号）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462962" y="203120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三级标题字体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463915" y="2267902"/>
            <a:ext cx="12304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小四号黑体加粗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463915" y="2477452"/>
            <a:ext cx="12304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首行缩进两字符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462962" y="2783681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正文字体</a:t>
            </a:r>
          </a:p>
        </p:txBody>
      </p:sp>
      <p:sp>
        <p:nvSpPr>
          <p:cNvPr id="48" name="Freeform 48"/>
          <p:cNvSpPr/>
          <p:nvPr/>
        </p:nvSpPr>
        <p:spPr>
          <a:xfrm>
            <a:off x="8477250" y="3009900"/>
            <a:ext cx="1333500" cy="247650"/>
          </a:xfrm>
          <a:custGeom>
            <a:avLst/>
            <a:gdLst/>
            <a:ahLst/>
            <a:cxnLst/>
            <a:rect l="l" t="t" r="r" b="b"/>
            <a:pathLst>
              <a:path w="1333500" h="247650">
                <a:moveTo>
                  <a:pt x="38100" y="0"/>
                </a:moveTo>
                <a:lnTo>
                  <a:pt x="1295400" y="0"/>
                </a:lnTo>
                <a:cubicBezTo>
                  <a:pt x="1316442" y="0"/>
                  <a:pt x="1333500" y="17058"/>
                  <a:pt x="1333500" y="38100"/>
                </a:cubicBezTo>
                <a:lnTo>
                  <a:pt x="1333500" y="209550"/>
                </a:lnTo>
                <a:cubicBezTo>
                  <a:pt x="1333500" y="230592"/>
                  <a:pt x="1316442" y="247650"/>
                  <a:pt x="1295400" y="247650"/>
                </a:cubicBezTo>
                <a:lnTo>
                  <a:pt x="38100" y="247650"/>
                </a:lnTo>
                <a:cubicBezTo>
                  <a:pt x="17058" y="247650"/>
                  <a:pt x="0" y="230592"/>
                  <a:pt x="0" y="2095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BF5EF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8633222" y="30760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硕士：小四宋体</a:t>
            </a:r>
          </a:p>
        </p:txBody>
      </p:sp>
      <p:sp>
        <p:nvSpPr>
          <p:cNvPr id="50" name="Freeform 50"/>
          <p:cNvSpPr/>
          <p:nvPr/>
        </p:nvSpPr>
        <p:spPr>
          <a:xfrm>
            <a:off x="10001250" y="3009900"/>
            <a:ext cx="1333500" cy="247650"/>
          </a:xfrm>
          <a:custGeom>
            <a:avLst/>
            <a:gdLst/>
            <a:ahLst/>
            <a:cxnLst/>
            <a:rect l="l" t="t" r="r" b="b"/>
            <a:pathLst>
              <a:path w="1333500" h="247650">
                <a:moveTo>
                  <a:pt x="38100" y="0"/>
                </a:moveTo>
                <a:lnTo>
                  <a:pt x="1295400" y="0"/>
                </a:lnTo>
                <a:cubicBezTo>
                  <a:pt x="1316442" y="0"/>
                  <a:pt x="1333500" y="17058"/>
                  <a:pt x="1333500" y="38100"/>
                </a:cubicBezTo>
                <a:lnTo>
                  <a:pt x="1333500" y="209550"/>
                </a:lnTo>
                <a:cubicBezTo>
                  <a:pt x="1333500" y="230592"/>
                  <a:pt x="1316442" y="247650"/>
                  <a:pt x="1295400" y="247650"/>
                </a:cubicBezTo>
                <a:lnTo>
                  <a:pt x="38100" y="247650"/>
                </a:lnTo>
                <a:cubicBezTo>
                  <a:pt x="17058" y="247650"/>
                  <a:pt x="0" y="230592"/>
                  <a:pt x="0" y="2095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EF9E8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10157222" y="30760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D4A017"/>
                </a:solidFill>
                <a:latin typeface="Segoe UI"/>
                <a:ea typeface="Microsoft YaHei"/>
                <a:cs typeface="Segoe UI"/>
              </a:rPr>
              <a:t>博士：五号宋体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463915" y="3410902"/>
            <a:ext cx="22502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字母/数字：Times New Roman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463915" y="3620452"/>
            <a:ext cx="12304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首行缩进两字符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463915" y="3830002"/>
            <a:ext cx="10771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段首不留空行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464868" y="4180999"/>
            <a:ext cx="14701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对应 Word 标题 3 样式</a:t>
            </a:r>
          </a:p>
        </p:txBody>
      </p:sp>
      <p:sp>
        <p:nvSpPr>
          <p:cNvPr id="56" name="Freeform 56"/>
          <p:cNvSpPr/>
          <p:nvPr/>
        </p:nvSpPr>
        <p:spPr>
          <a:xfrm>
            <a:off x="571500" y="4810125"/>
            <a:ext cx="11049000" cy="571500"/>
          </a:xfrm>
          <a:custGeom>
            <a:avLst/>
            <a:gdLst/>
            <a:ahLst/>
            <a:cxnLst/>
            <a:rect l="l" t="t" r="r" b="b"/>
            <a:pathLst>
              <a:path w="11049000" h="571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495300"/>
                </a:lnTo>
                <a:cubicBezTo>
                  <a:pt x="11049000" y="537384"/>
                  <a:pt x="11014884" y="571500"/>
                  <a:pt x="10972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B"/>
          </a:solidFill>
          <a:ln w="9525">
            <a:solidFill>
              <a:srgbClr val="E2E8F0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843915" y="4934902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注释规则：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891665" y="49349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采用脚注形式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225165" y="4934902"/>
            <a:ext cx="13761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每页重新编号 ①②③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701665" y="4934902"/>
            <a:ext cx="16905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注释字号：小五号宋体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43915" y="5163502"/>
            <a:ext cx="29403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一般不超过三级标题，层次过多时改用列表</a:t>
            </a:r>
          </a:p>
        </p:txBody>
      </p:sp>
      <p:sp>
        <p:nvSpPr>
          <p:cNvPr id="62" name="Rectangle 62"/>
          <p:cNvSpPr/>
          <p:nvPr/>
        </p:nvSpPr>
        <p:spPr>
          <a:xfrm>
            <a:off x="571500" y="58293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941070" y="5922645"/>
            <a:ext cx="25203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华中师范大学研究生学位论文撰写格式标准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933408" y="5922645"/>
            <a:ext cx="3251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Arial"/>
                <a:ea typeface="Microsoft YaHei"/>
                <a:cs typeface="Arial"/>
              </a:rPr>
              <a:t>6 / 11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B6B3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961382" y="255270"/>
            <a:ext cx="226923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图表公式规范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797998" y="632460"/>
            <a:ext cx="45960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图（Figure）· 表（Table）· 公式（Formula）编号与格式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000125"/>
            <a:ext cx="3429000" cy="4000500"/>
          </a:xfrm>
          <a:custGeom>
            <a:avLst/>
            <a:gdLst/>
            <a:ahLst/>
            <a:cxnLst/>
            <a:rect l="l" t="t" r="r" b="b"/>
            <a:pathLst>
              <a:path w="3429000" h="40005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3905250"/>
                </a:lnTo>
                <a:cubicBezTo>
                  <a:pt x="3429000" y="3957855"/>
                  <a:pt x="3386355" y="4000500"/>
                  <a:pt x="3333750" y="4000500"/>
                </a:cubicBezTo>
                <a:lnTo>
                  <a:pt x="95250" y="4000500"/>
                </a:lnTo>
                <a:cubicBezTo>
                  <a:pt x="42645" y="4000500"/>
                  <a:pt x="0" y="3957855"/>
                  <a:pt x="0" y="3905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2E8F0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571500" y="1000125"/>
            <a:ext cx="3429000" cy="76200"/>
          </a:xfrm>
          <a:custGeom>
            <a:avLst/>
            <a:gdLst/>
            <a:ahLst/>
            <a:cxnLst/>
            <a:rect l="l" t="t" r="r" b="b"/>
            <a:pathLst>
              <a:path w="3429000" h="76200">
                <a:moveTo>
                  <a:pt x="47625" y="0"/>
                </a:moveTo>
                <a:lnTo>
                  <a:pt x="3381375" y="0"/>
                </a:lnTo>
                <a:cubicBezTo>
                  <a:pt x="3407678" y="0"/>
                  <a:pt x="3429000" y="17058"/>
                  <a:pt x="3429000" y="38100"/>
                </a:cubicBezTo>
                <a:lnTo>
                  <a:pt x="3429000" y="38100"/>
                </a:lnTo>
                <a:cubicBezTo>
                  <a:pt x="3429000" y="59142"/>
                  <a:pt x="3407678" y="76200"/>
                  <a:pt x="3381375" y="76200"/>
                </a:cubicBezTo>
                <a:lnTo>
                  <a:pt x="47625" y="76200"/>
                </a:lnTo>
                <a:cubicBezTo>
                  <a:pt x="21322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21322" y="0"/>
                  <a:pt x="47625" y="0"/>
                </a:cubicBezTo>
                <a:close/>
              </a:path>
            </a:pathLst>
          </a:custGeom>
          <a:solidFill>
            <a:srgbClr val="1B6B3A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499624" y="1183958"/>
            <a:ext cx="157275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图（Figure）</a:t>
            </a:r>
          </a:p>
        </p:txBody>
      </p:sp>
      <p:sp>
        <p:nvSpPr>
          <p:cNvPr id="9" name="Freeform 9"/>
          <p:cNvSpPr/>
          <p:nvPr/>
        </p:nvSpPr>
        <p:spPr>
          <a:xfrm>
            <a:off x="952500" y="1524000"/>
            <a:ext cx="2667000" cy="1143000"/>
          </a:xfrm>
          <a:custGeom>
            <a:avLst/>
            <a:gdLst/>
            <a:ahLst/>
            <a:cxnLst/>
            <a:rect l="l" t="t" r="r" b="b"/>
            <a:pathLst>
              <a:path w="2667000" h="1143000">
                <a:moveTo>
                  <a:pt x="57150" y="0"/>
                </a:moveTo>
                <a:lnTo>
                  <a:pt x="2609850" y="0"/>
                </a:lnTo>
                <a:cubicBezTo>
                  <a:pt x="2641413" y="0"/>
                  <a:pt x="2667000" y="25587"/>
                  <a:pt x="2667000" y="57150"/>
                </a:cubicBezTo>
                <a:lnTo>
                  <a:pt x="2667000" y="1085850"/>
                </a:lnTo>
                <a:cubicBezTo>
                  <a:pt x="2667000" y="1117413"/>
                  <a:pt x="2641413" y="1143000"/>
                  <a:pt x="2609850" y="1143000"/>
                </a:cubicBezTo>
                <a:lnTo>
                  <a:pt x="57150" y="1143000"/>
                </a:lnTo>
                <a:cubicBezTo>
                  <a:pt x="25587" y="1143000"/>
                  <a:pt x="0" y="1117413"/>
                  <a:pt x="0" y="1085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0F4F8"/>
          </a:solidFill>
          <a:ln w="9525">
            <a:solidFill>
              <a:srgbClr val="CBD5E0"/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1238250" y="1666875"/>
            <a:ext cx="2095500" cy="762000"/>
          </a:xfrm>
          <a:custGeom>
            <a:avLst/>
            <a:gdLst/>
            <a:ahLst/>
            <a:cxnLst/>
            <a:rect l="l" t="t" r="r" b="b"/>
            <a:pathLst>
              <a:path w="2095500" h="762000">
                <a:moveTo>
                  <a:pt x="38100" y="0"/>
                </a:moveTo>
                <a:lnTo>
                  <a:pt x="2057400" y="0"/>
                </a:lnTo>
                <a:cubicBezTo>
                  <a:pt x="2078442" y="0"/>
                  <a:pt x="2095500" y="17058"/>
                  <a:pt x="2095500" y="38100"/>
                </a:cubicBezTo>
                <a:lnTo>
                  <a:pt x="2095500" y="723900"/>
                </a:lnTo>
                <a:cubicBezTo>
                  <a:pt x="2095500" y="744942"/>
                  <a:pt x="2078442" y="762000"/>
                  <a:pt x="2057400" y="762000"/>
                </a:cubicBezTo>
                <a:lnTo>
                  <a:pt x="38100" y="762000"/>
                </a:lnTo>
                <a:cubicBezTo>
                  <a:pt x="17058" y="762000"/>
                  <a:pt x="0" y="744942"/>
                  <a:pt x="0" y="723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ECF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812607" y="19821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图片内容区域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61624" y="2676049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图 2.1 研究框架示意图</a:t>
            </a:r>
          </a:p>
        </p:txBody>
      </p:sp>
      <p:sp>
        <p:nvSpPr>
          <p:cNvPr id="13" name="Rectangle 13"/>
          <p:cNvSpPr/>
          <p:nvPr/>
        </p:nvSpPr>
        <p:spPr>
          <a:xfrm>
            <a:off x="952500" y="2876550"/>
            <a:ext cx="2667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42962" y="302180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编号规则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3915" y="3258502"/>
            <a:ext cx="20969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按章节编号：图 2.1、图 3.5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3915" y="3468052"/>
            <a:ext cx="14911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附录中编号：图 A.1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2962" y="378380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图题位置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3915" y="4020502"/>
            <a:ext cx="16905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3E3E"/>
                </a:solidFill>
                <a:latin typeface="Segoe UI"/>
                <a:ea typeface="Microsoft YaHei"/>
                <a:cs typeface="Segoe UI"/>
              </a:rPr>
              <a:t>· 置于图的下方（居中）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3915" y="423005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编号 + 题名连排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2962" y="454580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随文排列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3915" y="4782502"/>
            <a:ext cx="12304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图紧随引用文字</a:t>
            </a:r>
          </a:p>
        </p:txBody>
      </p:sp>
      <p:sp>
        <p:nvSpPr>
          <p:cNvPr id="22" name="Freeform 22"/>
          <p:cNvSpPr/>
          <p:nvPr/>
        </p:nvSpPr>
        <p:spPr>
          <a:xfrm>
            <a:off x="4381500" y="1000125"/>
            <a:ext cx="3429000" cy="4000500"/>
          </a:xfrm>
          <a:custGeom>
            <a:avLst/>
            <a:gdLst/>
            <a:ahLst/>
            <a:cxnLst/>
            <a:rect l="l" t="t" r="r" b="b"/>
            <a:pathLst>
              <a:path w="3429000" h="40005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3905250"/>
                </a:lnTo>
                <a:cubicBezTo>
                  <a:pt x="3429000" y="3957855"/>
                  <a:pt x="3386355" y="4000500"/>
                  <a:pt x="3333750" y="4000500"/>
                </a:cubicBezTo>
                <a:lnTo>
                  <a:pt x="95250" y="4000500"/>
                </a:lnTo>
                <a:cubicBezTo>
                  <a:pt x="42645" y="4000500"/>
                  <a:pt x="0" y="3957855"/>
                  <a:pt x="0" y="3905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2E8F0"/>
            </a:solidFill>
          </a:ln>
        </p:spPr>
      </p:sp>
      <p:sp>
        <p:nvSpPr>
          <p:cNvPr id="23" name="Freeform 23"/>
          <p:cNvSpPr/>
          <p:nvPr/>
        </p:nvSpPr>
        <p:spPr>
          <a:xfrm>
            <a:off x="4381500" y="1000125"/>
            <a:ext cx="3429000" cy="76200"/>
          </a:xfrm>
          <a:custGeom>
            <a:avLst/>
            <a:gdLst/>
            <a:ahLst/>
            <a:cxnLst/>
            <a:rect l="l" t="t" r="r" b="b"/>
            <a:pathLst>
              <a:path w="3429000" h="76200">
                <a:moveTo>
                  <a:pt x="47625" y="0"/>
                </a:moveTo>
                <a:lnTo>
                  <a:pt x="3381375" y="0"/>
                </a:lnTo>
                <a:cubicBezTo>
                  <a:pt x="3407678" y="0"/>
                  <a:pt x="3429000" y="17058"/>
                  <a:pt x="3429000" y="38100"/>
                </a:cubicBezTo>
                <a:lnTo>
                  <a:pt x="3429000" y="38100"/>
                </a:lnTo>
                <a:cubicBezTo>
                  <a:pt x="3429000" y="59142"/>
                  <a:pt x="3407678" y="76200"/>
                  <a:pt x="3381375" y="76200"/>
                </a:cubicBezTo>
                <a:lnTo>
                  <a:pt x="47625" y="76200"/>
                </a:lnTo>
                <a:cubicBezTo>
                  <a:pt x="21322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21322" y="0"/>
                  <a:pt x="47625" y="0"/>
                </a:cubicBezTo>
                <a:close/>
              </a:path>
            </a:pathLst>
          </a:custGeom>
          <a:solidFill>
            <a:srgbClr val="2E8A5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379208" y="1183958"/>
            <a:ext cx="143358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E8A50"/>
                </a:solidFill>
                <a:latin typeface="Segoe UI"/>
                <a:ea typeface="Microsoft YaHei"/>
                <a:cs typeface="Segoe UI"/>
              </a:rPr>
              <a:t>表（Table）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442823" y="1656874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表 2.1 样本统计描述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667250" y="1866900"/>
            <a:ext cx="2857500" cy="19050"/>
          </a:xfrm>
          <a:prstGeom prst="rect">
            <a:avLst/>
          </a:prstGeom>
          <a:solidFill>
            <a:srgbClr val="2D3748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4667250" y="1905000"/>
            <a:ext cx="2857500" cy="9525"/>
          </a:xfrm>
          <a:prstGeom prst="rect">
            <a:avLst/>
          </a:prstGeom>
          <a:solidFill>
            <a:srgbClr val="2D3748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035868" y="200929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变量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64618" y="200929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均值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940868" y="2009299"/>
            <a:ext cx="4519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标准差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667250" y="2190750"/>
            <a:ext cx="2857500" cy="9525"/>
          </a:xfrm>
          <a:prstGeom prst="rect">
            <a:avLst/>
          </a:prstGeom>
          <a:solidFill>
            <a:srgbClr val="4A5568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035868" y="227599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年龄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464618" y="2275999"/>
            <a:ext cx="3380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26.3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40868" y="2275999"/>
            <a:ext cx="2597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3.5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035868" y="246649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成绩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464618" y="2466499"/>
            <a:ext cx="3380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82.7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940868" y="2466499"/>
            <a:ext cx="2668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11.2</a:t>
            </a:r>
          </a:p>
        </p:txBody>
      </p:sp>
      <p:sp>
        <p:nvSpPr>
          <p:cNvPr id="38" name="Rectangle 38"/>
          <p:cNvSpPr/>
          <p:nvPr/>
        </p:nvSpPr>
        <p:spPr>
          <a:xfrm>
            <a:off x="4667250" y="2647950"/>
            <a:ext cx="2857500" cy="19050"/>
          </a:xfrm>
          <a:prstGeom prst="rect">
            <a:avLst/>
          </a:prstGeom>
          <a:solidFill>
            <a:srgbClr val="2D3748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755958" y="276034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三线表示意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652962" y="30027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编号规则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653915" y="3239452"/>
            <a:ext cx="20969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按章节编号：表 2.1、表 4.3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653915" y="3449002"/>
            <a:ext cx="14911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附录中编号：表 A.1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652962" y="37647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表题位置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653915" y="4001452"/>
            <a:ext cx="16905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3E3E"/>
                </a:solidFill>
                <a:latin typeface="Segoe UI"/>
                <a:ea typeface="Microsoft YaHei"/>
                <a:cs typeface="Segoe UI"/>
              </a:rPr>
              <a:t>· 置于表的上方（居中）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653915" y="4211002"/>
            <a:ext cx="21659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续表需重复表头及标注"续表"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652962" y="45267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表格样式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653915" y="4763452"/>
            <a:ext cx="15371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推荐国际通用三线表</a:t>
            </a:r>
          </a:p>
        </p:txBody>
      </p:sp>
      <p:sp>
        <p:nvSpPr>
          <p:cNvPr id="48" name="Freeform 48"/>
          <p:cNvSpPr/>
          <p:nvPr/>
        </p:nvSpPr>
        <p:spPr>
          <a:xfrm>
            <a:off x="8191500" y="1000125"/>
            <a:ext cx="3429000" cy="4000500"/>
          </a:xfrm>
          <a:custGeom>
            <a:avLst/>
            <a:gdLst/>
            <a:ahLst/>
            <a:cxnLst/>
            <a:rect l="l" t="t" r="r" b="b"/>
            <a:pathLst>
              <a:path w="3429000" h="40005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3905250"/>
                </a:lnTo>
                <a:cubicBezTo>
                  <a:pt x="3429000" y="3957855"/>
                  <a:pt x="3386355" y="4000500"/>
                  <a:pt x="3333750" y="4000500"/>
                </a:cubicBezTo>
                <a:lnTo>
                  <a:pt x="95250" y="4000500"/>
                </a:lnTo>
                <a:cubicBezTo>
                  <a:pt x="42645" y="4000500"/>
                  <a:pt x="0" y="3957855"/>
                  <a:pt x="0" y="3905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2E8F0"/>
            </a:solidFill>
          </a:ln>
        </p:spPr>
      </p:sp>
      <p:sp>
        <p:nvSpPr>
          <p:cNvPr id="49" name="Freeform 49"/>
          <p:cNvSpPr/>
          <p:nvPr/>
        </p:nvSpPr>
        <p:spPr>
          <a:xfrm>
            <a:off x="8191500" y="1000125"/>
            <a:ext cx="3429000" cy="76200"/>
          </a:xfrm>
          <a:custGeom>
            <a:avLst/>
            <a:gdLst/>
            <a:ahLst/>
            <a:cxnLst/>
            <a:rect l="l" t="t" r="r" b="b"/>
            <a:pathLst>
              <a:path w="3429000" h="76200">
                <a:moveTo>
                  <a:pt x="47625" y="0"/>
                </a:moveTo>
                <a:lnTo>
                  <a:pt x="3381375" y="0"/>
                </a:lnTo>
                <a:cubicBezTo>
                  <a:pt x="3407678" y="0"/>
                  <a:pt x="3429000" y="17058"/>
                  <a:pt x="3429000" y="38100"/>
                </a:cubicBezTo>
                <a:lnTo>
                  <a:pt x="3429000" y="38100"/>
                </a:lnTo>
                <a:cubicBezTo>
                  <a:pt x="3429000" y="59142"/>
                  <a:pt x="3407678" y="76200"/>
                  <a:pt x="3381375" y="76200"/>
                </a:cubicBezTo>
                <a:lnTo>
                  <a:pt x="47625" y="76200"/>
                </a:lnTo>
                <a:cubicBezTo>
                  <a:pt x="21322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21322" y="0"/>
                  <a:pt x="47625" y="0"/>
                </a:cubicBezTo>
                <a:close/>
              </a:path>
            </a:pathLst>
          </a:custGeom>
          <a:solidFill>
            <a:srgbClr val="D4A017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8898222" y="1183958"/>
            <a:ext cx="201555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D4A017"/>
                </a:solidFill>
                <a:latin typeface="Segoe UI"/>
                <a:ea typeface="Microsoft YaHei"/>
                <a:cs typeface="Segoe UI"/>
              </a:rPr>
              <a:t>公式（Formula）</a:t>
            </a:r>
          </a:p>
        </p:txBody>
      </p:sp>
      <p:sp>
        <p:nvSpPr>
          <p:cNvPr id="51" name="Freeform 51"/>
          <p:cNvSpPr/>
          <p:nvPr/>
        </p:nvSpPr>
        <p:spPr>
          <a:xfrm>
            <a:off x="8477250" y="1524000"/>
            <a:ext cx="2857500" cy="666750"/>
          </a:xfrm>
          <a:custGeom>
            <a:avLst/>
            <a:gdLst/>
            <a:ahLst/>
            <a:cxnLst/>
            <a:rect l="l" t="t" r="r" b="b"/>
            <a:pathLst>
              <a:path w="2857500" h="666750">
                <a:moveTo>
                  <a:pt x="57150" y="0"/>
                </a:moveTo>
                <a:lnTo>
                  <a:pt x="2800350" y="0"/>
                </a:lnTo>
                <a:cubicBezTo>
                  <a:pt x="2831913" y="0"/>
                  <a:pt x="2857500" y="25587"/>
                  <a:pt x="2857500" y="57150"/>
                </a:cubicBezTo>
                <a:lnTo>
                  <a:pt x="2857500" y="609600"/>
                </a:lnTo>
                <a:cubicBezTo>
                  <a:pt x="2857500" y="641163"/>
                  <a:pt x="2831913" y="666750"/>
                  <a:pt x="2800350" y="666750"/>
                </a:cubicBezTo>
                <a:lnTo>
                  <a:pt x="57150" y="666750"/>
                </a:lnTo>
                <a:cubicBezTo>
                  <a:pt x="25587" y="666750"/>
                  <a:pt x="0" y="641163"/>
                  <a:pt x="0" y="609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EF9E8"/>
          </a:solidFill>
          <a:ln w="9525">
            <a:solidFill>
              <a:srgbClr val="FED7A0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9117092" y="1743075"/>
            <a:ext cx="8158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i="1" dirty="0">
                <a:solidFill>
                  <a:srgbClr val="2D3748"/>
                </a:solidFill>
                <a:latin typeface="Times New Roman"/>
                <a:ea typeface="SimSun"/>
                <a:cs typeface="Times New Roman"/>
              </a:rPr>
              <a:t>E = mc²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796349" y="179165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D4A017"/>
                </a:solidFill>
                <a:latin typeface="Arial"/>
                <a:ea typeface="Microsoft YaHei"/>
                <a:cs typeface="Arial"/>
              </a:rPr>
              <a:t>(1.3)</a:t>
            </a:r>
          </a:p>
        </p:txBody>
      </p:sp>
      <p:sp>
        <p:nvSpPr>
          <p:cNvPr id="54" name="Rectangle 54"/>
          <p:cNvSpPr/>
          <p:nvPr/>
        </p:nvSpPr>
        <p:spPr>
          <a:xfrm>
            <a:off x="8477250" y="2266950"/>
            <a:ext cx="2857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8462962" y="24312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排列规则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463915" y="2667952"/>
            <a:ext cx="13838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另起一行居中横排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463915" y="2877502"/>
            <a:ext cx="12304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不占正文行间距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462962" y="31932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编号规则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463915" y="3429952"/>
            <a:ext cx="24036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分章节编号：公式 1.3、公式 5.7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463915" y="3639502"/>
            <a:ext cx="13838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编号在行末右对齐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463915" y="3849052"/>
            <a:ext cx="19972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序号标注于最右侧圆括号内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462962" y="416480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转行规则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463915" y="4401502"/>
            <a:ext cx="20125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在运算符（+ - × ÷）处换行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463915" y="4611052"/>
            <a:ext cx="15371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运算符排于下行行首</a:t>
            </a:r>
          </a:p>
        </p:txBody>
      </p:sp>
      <p:sp>
        <p:nvSpPr>
          <p:cNvPr id="65" name="Freeform 65"/>
          <p:cNvSpPr/>
          <p:nvPr/>
        </p:nvSpPr>
        <p:spPr>
          <a:xfrm>
            <a:off x="571500" y="5238750"/>
            <a:ext cx="11049000" cy="571500"/>
          </a:xfrm>
          <a:custGeom>
            <a:avLst/>
            <a:gdLst/>
            <a:ahLst/>
            <a:cxnLst/>
            <a:rect l="l" t="t" r="r" b="b"/>
            <a:pathLst>
              <a:path w="11049000" h="571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495300"/>
                </a:lnTo>
                <a:cubicBezTo>
                  <a:pt x="11049000" y="537384"/>
                  <a:pt x="11014884" y="571500"/>
                  <a:pt x="10972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BF5EF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842962" y="5355431"/>
            <a:ext cx="5461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总则：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747838" y="5355431"/>
            <a:ext cx="38569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图 · 表 · 公式均须在正文中首次出现时进行引用说明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843915" y="5582602"/>
            <a:ext cx="39448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图题/表题一般用中英文对照，字号同正文或小于正文一级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1912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941070" y="6284595"/>
            <a:ext cx="25203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华中师范大学研究生学位论文撰写格式标准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933408" y="6284595"/>
            <a:ext cx="3251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Arial"/>
                <a:ea typeface="Microsoft YaHei"/>
                <a:cs typeface="Arial"/>
              </a:rPr>
              <a:t>7 / 11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B6B3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961382" y="255270"/>
            <a:ext cx="226923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参考文献格式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96715" y="632460"/>
            <a:ext cx="379857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顺序编码制 · 方括号上标引用 · GB/T 7714-2005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000125"/>
            <a:ext cx="5334000" cy="1428750"/>
          </a:xfrm>
          <a:custGeom>
            <a:avLst/>
            <a:gdLst/>
            <a:ahLst/>
            <a:cxnLst/>
            <a:rect l="l" t="t" r="r" b="b"/>
            <a:pathLst>
              <a:path w="5334000" h="14287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1333500"/>
                </a:lnTo>
                <a:cubicBezTo>
                  <a:pt x="5334000" y="1386105"/>
                  <a:pt x="5291355" y="1428750"/>
                  <a:pt x="523875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2E8F0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571500" y="1000125"/>
            <a:ext cx="5334000" cy="76200"/>
          </a:xfrm>
          <a:custGeom>
            <a:avLst/>
            <a:gdLst/>
            <a:ahLst/>
            <a:cxnLst/>
            <a:rect l="l" t="t" r="r" b="b"/>
            <a:pathLst>
              <a:path w="5334000" h="76200">
                <a:moveTo>
                  <a:pt x="47625" y="0"/>
                </a:moveTo>
                <a:lnTo>
                  <a:pt x="5286375" y="0"/>
                </a:lnTo>
                <a:cubicBezTo>
                  <a:pt x="5312678" y="0"/>
                  <a:pt x="5334000" y="17058"/>
                  <a:pt x="5334000" y="38100"/>
                </a:cubicBezTo>
                <a:lnTo>
                  <a:pt x="5334000" y="38100"/>
                </a:lnTo>
                <a:cubicBezTo>
                  <a:pt x="5334000" y="59142"/>
                  <a:pt x="5312678" y="76200"/>
                  <a:pt x="5286375" y="76200"/>
                </a:cubicBezTo>
                <a:lnTo>
                  <a:pt x="47625" y="76200"/>
                </a:lnTo>
                <a:cubicBezTo>
                  <a:pt x="21322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21322" y="0"/>
                  <a:pt x="47625" y="0"/>
                </a:cubicBezTo>
                <a:close/>
              </a:path>
            </a:pathLst>
          </a:custGeom>
          <a:solidFill>
            <a:srgbClr val="1B6B3A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40105" y="11877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标注方式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2962" y="1478756"/>
            <a:ext cx="32900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顺序编码制：按正文引用先后顺序连续编码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2962" y="1707356"/>
            <a:ext cx="246852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引用序号以上角标形式出现：如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916805" y="1616392"/>
            <a:ext cx="6657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6B3A"/>
                </a:solidFill>
                <a:latin typeface="Arial"/>
                <a:ea typeface="Microsoft YaHei"/>
                <a:cs typeface="Arial"/>
              </a:rPr>
              <a:t>[1][2]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3915" y="2153602"/>
            <a:ext cx="56087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示例正文：研究表明学生参与度与成绩呈正相关[3]，并对长期发展有影响[4,5]。</a:t>
            </a:r>
          </a:p>
        </p:txBody>
      </p:sp>
      <p:sp>
        <p:nvSpPr>
          <p:cNvPr id="13" name="Freeform 13"/>
          <p:cNvSpPr/>
          <p:nvPr/>
        </p:nvSpPr>
        <p:spPr>
          <a:xfrm>
            <a:off x="6286500" y="1000125"/>
            <a:ext cx="5334000" cy="1428750"/>
          </a:xfrm>
          <a:custGeom>
            <a:avLst/>
            <a:gdLst/>
            <a:ahLst/>
            <a:cxnLst/>
            <a:rect l="l" t="t" r="r" b="b"/>
            <a:pathLst>
              <a:path w="5334000" h="14287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1333500"/>
                </a:lnTo>
                <a:cubicBezTo>
                  <a:pt x="5334000" y="1386105"/>
                  <a:pt x="5291355" y="1428750"/>
                  <a:pt x="523875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2E8F0"/>
            </a:solidFill>
          </a:ln>
        </p:spPr>
      </p:sp>
      <p:sp>
        <p:nvSpPr>
          <p:cNvPr id="14" name="Freeform 14"/>
          <p:cNvSpPr/>
          <p:nvPr/>
        </p:nvSpPr>
        <p:spPr>
          <a:xfrm>
            <a:off x="6286500" y="1000125"/>
            <a:ext cx="5334000" cy="76200"/>
          </a:xfrm>
          <a:custGeom>
            <a:avLst/>
            <a:gdLst/>
            <a:ahLst/>
            <a:cxnLst/>
            <a:rect l="l" t="t" r="r" b="b"/>
            <a:pathLst>
              <a:path w="5334000" h="76200">
                <a:moveTo>
                  <a:pt x="47625" y="0"/>
                </a:moveTo>
                <a:lnTo>
                  <a:pt x="5286375" y="0"/>
                </a:lnTo>
                <a:cubicBezTo>
                  <a:pt x="5312678" y="0"/>
                  <a:pt x="5334000" y="17058"/>
                  <a:pt x="5334000" y="38100"/>
                </a:cubicBezTo>
                <a:lnTo>
                  <a:pt x="5334000" y="38100"/>
                </a:lnTo>
                <a:cubicBezTo>
                  <a:pt x="5334000" y="59142"/>
                  <a:pt x="5312678" y="76200"/>
                  <a:pt x="5286375" y="76200"/>
                </a:cubicBezTo>
                <a:lnTo>
                  <a:pt x="47625" y="76200"/>
                </a:lnTo>
                <a:cubicBezTo>
                  <a:pt x="21322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21322" y="0"/>
                  <a:pt x="47625" y="0"/>
                </a:cubicBezTo>
                <a:close/>
              </a:path>
            </a:pathLst>
          </a:custGeom>
          <a:solidFill>
            <a:srgbClr val="2E8A5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555105" y="118776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E8A50"/>
                </a:solidFill>
                <a:latin typeface="Segoe UI"/>
                <a:ea typeface="Microsoft YaHei"/>
                <a:cs typeface="Segoe UI"/>
              </a:rPr>
              <a:t>作者著录规则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57962" y="1478756"/>
            <a:ext cx="18112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不超过三位：全部列出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57962" y="1707356"/>
            <a:ext cx="16469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超过三位：列前三位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29712" y="1707356"/>
            <a:ext cx="86653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D4A017"/>
                </a:solidFill>
                <a:latin typeface="Segoe UI"/>
                <a:ea typeface="Microsoft YaHei"/>
                <a:cs typeface="Segoe UI"/>
              </a:rPr>
              <a:t>中文加"等"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20338" y="1707356"/>
            <a:ext cx="107192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D4A017"/>
                </a:solidFill>
                <a:latin typeface="Segoe UI"/>
                <a:ea typeface="Microsoft YaHei"/>
                <a:cs typeface="Segoe UI"/>
              </a:rPr>
              <a:t>英文加"et al"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58915" y="1944052"/>
            <a:ext cx="43588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示例：张三, 李四, 王五等. / Smith J, Brown K, Lee M et al.</a:t>
            </a:r>
          </a:p>
        </p:txBody>
      </p:sp>
      <p:sp>
        <p:nvSpPr>
          <p:cNvPr id="21" name="Freeform 21"/>
          <p:cNvSpPr/>
          <p:nvPr/>
        </p:nvSpPr>
        <p:spPr>
          <a:xfrm>
            <a:off x="571500" y="2619375"/>
            <a:ext cx="5334000" cy="2095500"/>
          </a:xfrm>
          <a:custGeom>
            <a:avLst/>
            <a:gdLst/>
            <a:ahLst/>
            <a:cxnLst/>
            <a:rect l="l" t="t" r="r" b="b"/>
            <a:pathLst>
              <a:path w="5334000" h="20955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2000250"/>
                </a:lnTo>
                <a:cubicBezTo>
                  <a:pt x="5334000" y="2052855"/>
                  <a:pt x="5291355" y="2095500"/>
                  <a:pt x="5238750" y="2095500"/>
                </a:cubicBezTo>
                <a:lnTo>
                  <a:pt x="95250" y="2095500"/>
                </a:lnTo>
                <a:cubicBezTo>
                  <a:pt x="42645" y="2095500"/>
                  <a:pt x="0" y="2052855"/>
                  <a:pt x="0" y="2000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2E8F0"/>
            </a:solidFill>
          </a:ln>
        </p:spPr>
      </p:sp>
      <p:sp>
        <p:nvSpPr>
          <p:cNvPr id="22" name="Freeform 22"/>
          <p:cNvSpPr/>
          <p:nvPr/>
        </p:nvSpPr>
        <p:spPr>
          <a:xfrm>
            <a:off x="571500" y="2619375"/>
            <a:ext cx="5334000" cy="76200"/>
          </a:xfrm>
          <a:custGeom>
            <a:avLst/>
            <a:gdLst/>
            <a:ahLst/>
            <a:cxnLst/>
            <a:rect l="l" t="t" r="r" b="b"/>
            <a:pathLst>
              <a:path w="5334000" h="76200">
                <a:moveTo>
                  <a:pt x="47625" y="0"/>
                </a:moveTo>
                <a:lnTo>
                  <a:pt x="5286375" y="0"/>
                </a:lnTo>
                <a:cubicBezTo>
                  <a:pt x="5312678" y="0"/>
                  <a:pt x="5334000" y="17058"/>
                  <a:pt x="5334000" y="38100"/>
                </a:cubicBezTo>
                <a:lnTo>
                  <a:pt x="5334000" y="38100"/>
                </a:lnTo>
                <a:cubicBezTo>
                  <a:pt x="5334000" y="59142"/>
                  <a:pt x="5312678" y="76200"/>
                  <a:pt x="5286375" y="76200"/>
                </a:cubicBezTo>
                <a:lnTo>
                  <a:pt x="47625" y="76200"/>
                </a:lnTo>
                <a:cubicBezTo>
                  <a:pt x="21322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21322" y="0"/>
                  <a:pt x="47625" y="0"/>
                </a:cubicBezTo>
                <a:close/>
              </a:path>
            </a:pathLst>
          </a:custGeom>
          <a:solidFill>
            <a:srgbClr val="D4A017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40105" y="280701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D4A017"/>
                </a:solidFill>
                <a:latin typeface="Segoe UI"/>
                <a:ea typeface="Microsoft YaHei"/>
                <a:cs typeface="Segoe UI"/>
              </a:rPr>
              <a:t>文献类型代码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7250" y="3095625"/>
            <a:ext cx="1047750" cy="304800"/>
          </a:xfrm>
          <a:custGeom>
            <a:avLst/>
            <a:gdLst/>
            <a:ahLst/>
            <a:cxnLst/>
            <a:rect l="l" t="t" r="r" b="b"/>
            <a:pathLst>
              <a:path w="1047750" h="304800">
                <a:moveTo>
                  <a:pt x="57150" y="0"/>
                </a:moveTo>
                <a:lnTo>
                  <a:pt x="990600" y="0"/>
                </a:lnTo>
                <a:cubicBezTo>
                  <a:pt x="1022163" y="0"/>
                  <a:pt x="1047750" y="25587"/>
                  <a:pt x="1047750" y="57150"/>
                </a:cubicBezTo>
                <a:lnTo>
                  <a:pt x="1047750" y="247650"/>
                </a:lnTo>
                <a:cubicBezTo>
                  <a:pt x="1047750" y="279213"/>
                  <a:pt x="1022163" y="304800"/>
                  <a:pt x="990600" y="304800"/>
                </a:cubicBezTo>
                <a:lnTo>
                  <a:pt x="57150" y="304800"/>
                </a:lnTo>
                <a:cubicBezTo>
                  <a:pt x="25587" y="304800"/>
                  <a:pt x="0" y="279213"/>
                  <a:pt x="0" y="247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B6B3A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08855" y="3183731"/>
            <a:ext cx="74453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[M] 专著</a:t>
            </a:r>
          </a:p>
        </p:txBody>
      </p:sp>
      <p:sp>
        <p:nvSpPr>
          <p:cNvPr id="26" name="Freeform 26"/>
          <p:cNvSpPr/>
          <p:nvPr/>
        </p:nvSpPr>
        <p:spPr>
          <a:xfrm>
            <a:off x="2047875" y="3095625"/>
            <a:ext cx="1047750" cy="304800"/>
          </a:xfrm>
          <a:custGeom>
            <a:avLst/>
            <a:gdLst/>
            <a:ahLst/>
            <a:cxnLst/>
            <a:rect l="l" t="t" r="r" b="b"/>
            <a:pathLst>
              <a:path w="1047750" h="304800">
                <a:moveTo>
                  <a:pt x="57150" y="0"/>
                </a:moveTo>
                <a:lnTo>
                  <a:pt x="990600" y="0"/>
                </a:lnTo>
                <a:cubicBezTo>
                  <a:pt x="1022163" y="0"/>
                  <a:pt x="1047750" y="25587"/>
                  <a:pt x="1047750" y="57150"/>
                </a:cubicBezTo>
                <a:lnTo>
                  <a:pt x="1047750" y="247650"/>
                </a:lnTo>
                <a:cubicBezTo>
                  <a:pt x="1047750" y="279213"/>
                  <a:pt x="1022163" y="304800"/>
                  <a:pt x="990600" y="304800"/>
                </a:cubicBezTo>
                <a:lnTo>
                  <a:pt x="57150" y="304800"/>
                </a:lnTo>
                <a:cubicBezTo>
                  <a:pt x="25587" y="304800"/>
                  <a:pt x="0" y="279213"/>
                  <a:pt x="0" y="247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E8A50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2216732" y="3183731"/>
            <a:ext cx="7100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[J] 期刊</a:t>
            </a:r>
          </a:p>
        </p:txBody>
      </p:sp>
      <p:sp>
        <p:nvSpPr>
          <p:cNvPr id="28" name="Freeform 28"/>
          <p:cNvSpPr/>
          <p:nvPr/>
        </p:nvSpPr>
        <p:spPr>
          <a:xfrm>
            <a:off x="3238500" y="3095625"/>
            <a:ext cx="1047750" cy="304800"/>
          </a:xfrm>
          <a:custGeom>
            <a:avLst/>
            <a:gdLst/>
            <a:ahLst/>
            <a:cxnLst/>
            <a:rect l="l" t="t" r="r" b="b"/>
            <a:pathLst>
              <a:path w="1047750" h="304800">
                <a:moveTo>
                  <a:pt x="57150" y="0"/>
                </a:moveTo>
                <a:lnTo>
                  <a:pt x="990600" y="0"/>
                </a:lnTo>
                <a:cubicBezTo>
                  <a:pt x="1022163" y="0"/>
                  <a:pt x="1047750" y="25587"/>
                  <a:pt x="1047750" y="57150"/>
                </a:cubicBezTo>
                <a:lnTo>
                  <a:pt x="1047750" y="247650"/>
                </a:lnTo>
                <a:cubicBezTo>
                  <a:pt x="1047750" y="279213"/>
                  <a:pt x="1022163" y="304800"/>
                  <a:pt x="990600" y="304800"/>
                </a:cubicBezTo>
                <a:lnTo>
                  <a:pt x="57150" y="304800"/>
                </a:lnTo>
                <a:cubicBezTo>
                  <a:pt x="25587" y="304800"/>
                  <a:pt x="0" y="279213"/>
                  <a:pt x="0" y="247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B6B3A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3234836" y="3183731"/>
            <a:ext cx="10550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[D] 学位论文</a:t>
            </a:r>
          </a:p>
        </p:txBody>
      </p:sp>
      <p:sp>
        <p:nvSpPr>
          <p:cNvPr id="30" name="Freeform 30"/>
          <p:cNvSpPr/>
          <p:nvPr/>
        </p:nvSpPr>
        <p:spPr>
          <a:xfrm>
            <a:off x="4429125" y="3095625"/>
            <a:ext cx="1047750" cy="304800"/>
          </a:xfrm>
          <a:custGeom>
            <a:avLst/>
            <a:gdLst/>
            <a:ahLst/>
            <a:cxnLst/>
            <a:rect l="l" t="t" r="r" b="b"/>
            <a:pathLst>
              <a:path w="1047750" h="304800">
                <a:moveTo>
                  <a:pt x="57150" y="0"/>
                </a:moveTo>
                <a:lnTo>
                  <a:pt x="990600" y="0"/>
                </a:lnTo>
                <a:cubicBezTo>
                  <a:pt x="1022163" y="0"/>
                  <a:pt x="1047750" y="25587"/>
                  <a:pt x="1047750" y="57150"/>
                </a:cubicBezTo>
                <a:lnTo>
                  <a:pt x="1047750" y="247650"/>
                </a:lnTo>
                <a:cubicBezTo>
                  <a:pt x="1047750" y="279213"/>
                  <a:pt x="1022163" y="304800"/>
                  <a:pt x="990600" y="304800"/>
                </a:cubicBezTo>
                <a:lnTo>
                  <a:pt x="57150" y="304800"/>
                </a:lnTo>
                <a:cubicBezTo>
                  <a:pt x="25587" y="304800"/>
                  <a:pt x="0" y="279213"/>
                  <a:pt x="0" y="247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718096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511722" y="3183731"/>
            <a:ext cx="8825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[C] 会议录</a:t>
            </a:r>
          </a:p>
        </p:txBody>
      </p:sp>
      <p:sp>
        <p:nvSpPr>
          <p:cNvPr id="32" name="Freeform 32"/>
          <p:cNvSpPr/>
          <p:nvPr/>
        </p:nvSpPr>
        <p:spPr>
          <a:xfrm>
            <a:off x="857250" y="3505200"/>
            <a:ext cx="1047750" cy="304800"/>
          </a:xfrm>
          <a:custGeom>
            <a:avLst/>
            <a:gdLst/>
            <a:ahLst/>
            <a:cxnLst/>
            <a:rect l="l" t="t" r="r" b="b"/>
            <a:pathLst>
              <a:path w="1047750" h="304800">
                <a:moveTo>
                  <a:pt x="57150" y="0"/>
                </a:moveTo>
                <a:lnTo>
                  <a:pt x="990600" y="0"/>
                </a:lnTo>
                <a:cubicBezTo>
                  <a:pt x="1022163" y="0"/>
                  <a:pt x="1047750" y="25587"/>
                  <a:pt x="1047750" y="57150"/>
                </a:cubicBezTo>
                <a:lnTo>
                  <a:pt x="1047750" y="247650"/>
                </a:lnTo>
                <a:cubicBezTo>
                  <a:pt x="1047750" y="279213"/>
                  <a:pt x="1022163" y="304800"/>
                  <a:pt x="990600" y="304800"/>
                </a:cubicBezTo>
                <a:lnTo>
                  <a:pt x="57150" y="304800"/>
                </a:lnTo>
                <a:cubicBezTo>
                  <a:pt x="25587" y="304800"/>
                  <a:pt x="0" y="279213"/>
                  <a:pt x="0" y="247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718096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026107" y="3593306"/>
            <a:ext cx="7100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[G] 汇编</a:t>
            </a:r>
          </a:p>
        </p:txBody>
      </p:sp>
      <p:sp>
        <p:nvSpPr>
          <p:cNvPr id="34" name="Freeform 34"/>
          <p:cNvSpPr/>
          <p:nvPr/>
        </p:nvSpPr>
        <p:spPr>
          <a:xfrm>
            <a:off x="2047875" y="3505200"/>
            <a:ext cx="1047750" cy="304800"/>
          </a:xfrm>
          <a:custGeom>
            <a:avLst/>
            <a:gdLst/>
            <a:ahLst/>
            <a:cxnLst/>
            <a:rect l="l" t="t" r="r" b="b"/>
            <a:pathLst>
              <a:path w="1047750" h="304800">
                <a:moveTo>
                  <a:pt x="57150" y="0"/>
                </a:moveTo>
                <a:lnTo>
                  <a:pt x="990600" y="0"/>
                </a:lnTo>
                <a:cubicBezTo>
                  <a:pt x="1022163" y="0"/>
                  <a:pt x="1047750" y="25587"/>
                  <a:pt x="1047750" y="57150"/>
                </a:cubicBezTo>
                <a:lnTo>
                  <a:pt x="1047750" y="247650"/>
                </a:lnTo>
                <a:cubicBezTo>
                  <a:pt x="1047750" y="279213"/>
                  <a:pt x="1022163" y="304800"/>
                  <a:pt x="990600" y="304800"/>
                </a:cubicBezTo>
                <a:lnTo>
                  <a:pt x="57150" y="304800"/>
                </a:lnTo>
                <a:cubicBezTo>
                  <a:pt x="25587" y="304800"/>
                  <a:pt x="0" y="279213"/>
                  <a:pt x="0" y="247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718096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2216732" y="3593306"/>
            <a:ext cx="7100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[N] 报纸</a:t>
            </a:r>
          </a:p>
        </p:txBody>
      </p:sp>
      <p:sp>
        <p:nvSpPr>
          <p:cNvPr id="36" name="Freeform 36"/>
          <p:cNvSpPr/>
          <p:nvPr/>
        </p:nvSpPr>
        <p:spPr>
          <a:xfrm>
            <a:off x="3238500" y="3505200"/>
            <a:ext cx="1047750" cy="304800"/>
          </a:xfrm>
          <a:custGeom>
            <a:avLst/>
            <a:gdLst/>
            <a:ahLst/>
            <a:cxnLst/>
            <a:rect l="l" t="t" r="r" b="b"/>
            <a:pathLst>
              <a:path w="1047750" h="304800">
                <a:moveTo>
                  <a:pt x="57150" y="0"/>
                </a:moveTo>
                <a:lnTo>
                  <a:pt x="990600" y="0"/>
                </a:lnTo>
                <a:cubicBezTo>
                  <a:pt x="1022163" y="0"/>
                  <a:pt x="1047750" y="25587"/>
                  <a:pt x="1047750" y="57150"/>
                </a:cubicBezTo>
                <a:lnTo>
                  <a:pt x="1047750" y="247650"/>
                </a:lnTo>
                <a:cubicBezTo>
                  <a:pt x="1047750" y="279213"/>
                  <a:pt x="1022163" y="304800"/>
                  <a:pt x="990600" y="304800"/>
                </a:cubicBezTo>
                <a:lnTo>
                  <a:pt x="57150" y="304800"/>
                </a:lnTo>
                <a:cubicBezTo>
                  <a:pt x="25587" y="304800"/>
                  <a:pt x="0" y="279213"/>
                  <a:pt x="0" y="247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718096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3407357" y="3593306"/>
            <a:ext cx="7100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[R] 报告</a:t>
            </a:r>
          </a:p>
        </p:txBody>
      </p:sp>
      <p:sp>
        <p:nvSpPr>
          <p:cNvPr id="38" name="Freeform 38"/>
          <p:cNvSpPr/>
          <p:nvPr/>
        </p:nvSpPr>
        <p:spPr>
          <a:xfrm>
            <a:off x="4429125" y="3505200"/>
            <a:ext cx="1047750" cy="304800"/>
          </a:xfrm>
          <a:custGeom>
            <a:avLst/>
            <a:gdLst/>
            <a:ahLst/>
            <a:cxnLst/>
            <a:rect l="l" t="t" r="r" b="b"/>
            <a:pathLst>
              <a:path w="1047750" h="304800">
                <a:moveTo>
                  <a:pt x="57150" y="0"/>
                </a:moveTo>
                <a:lnTo>
                  <a:pt x="990600" y="0"/>
                </a:lnTo>
                <a:cubicBezTo>
                  <a:pt x="1022163" y="0"/>
                  <a:pt x="1047750" y="25587"/>
                  <a:pt x="1047750" y="57150"/>
                </a:cubicBezTo>
                <a:lnTo>
                  <a:pt x="1047750" y="247650"/>
                </a:lnTo>
                <a:cubicBezTo>
                  <a:pt x="1047750" y="279213"/>
                  <a:pt x="1022163" y="304800"/>
                  <a:pt x="990600" y="304800"/>
                </a:cubicBezTo>
                <a:lnTo>
                  <a:pt x="57150" y="304800"/>
                </a:lnTo>
                <a:cubicBezTo>
                  <a:pt x="25587" y="304800"/>
                  <a:pt x="0" y="279213"/>
                  <a:pt x="0" y="247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D4A017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390957" y="3593306"/>
            <a:ext cx="112408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[DB/OL] 电子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43915" y="3982402"/>
            <a:ext cx="33160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另有：[S] 标准 [P] 专利 [A] 论文集中析出文献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44868" y="4219099"/>
            <a:ext cx="36559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电子文献加载体类型标识，如 [J/OL] [DB/OL] [EB/OL]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44868" y="4428649"/>
            <a:ext cx="30293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"参考文献"标题：三号黑体加粗居中，另起一页</a:t>
            </a:r>
          </a:p>
        </p:txBody>
      </p:sp>
      <p:sp>
        <p:nvSpPr>
          <p:cNvPr id="43" name="Freeform 43"/>
          <p:cNvSpPr/>
          <p:nvPr/>
        </p:nvSpPr>
        <p:spPr>
          <a:xfrm>
            <a:off x="6286500" y="2619375"/>
            <a:ext cx="5334000" cy="2095500"/>
          </a:xfrm>
          <a:custGeom>
            <a:avLst/>
            <a:gdLst/>
            <a:ahLst/>
            <a:cxnLst/>
            <a:rect l="l" t="t" r="r" b="b"/>
            <a:pathLst>
              <a:path w="5334000" h="20955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2000250"/>
                </a:lnTo>
                <a:cubicBezTo>
                  <a:pt x="5334000" y="2052855"/>
                  <a:pt x="5291355" y="2095500"/>
                  <a:pt x="5238750" y="2095500"/>
                </a:cubicBezTo>
                <a:lnTo>
                  <a:pt x="95250" y="2095500"/>
                </a:lnTo>
                <a:cubicBezTo>
                  <a:pt x="42645" y="2095500"/>
                  <a:pt x="0" y="2052855"/>
                  <a:pt x="0" y="2000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2E8F0"/>
            </a:solidFill>
          </a:ln>
        </p:spPr>
      </p:sp>
      <p:sp>
        <p:nvSpPr>
          <p:cNvPr id="44" name="Freeform 44"/>
          <p:cNvSpPr/>
          <p:nvPr/>
        </p:nvSpPr>
        <p:spPr>
          <a:xfrm>
            <a:off x="6286500" y="2619375"/>
            <a:ext cx="5334000" cy="76200"/>
          </a:xfrm>
          <a:custGeom>
            <a:avLst/>
            <a:gdLst/>
            <a:ahLst/>
            <a:cxnLst/>
            <a:rect l="l" t="t" r="r" b="b"/>
            <a:pathLst>
              <a:path w="5334000" h="76200">
                <a:moveTo>
                  <a:pt x="47625" y="0"/>
                </a:moveTo>
                <a:lnTo>
                  <a:pt x="5286375" y="0"/>
                </a:lnTo>
                <a:cubicBezTo>
                  <a:pt x="5312678" y="0"/>
                  <a:pt x="5334000" y="17058"/>
                  <a:pt x="5334000" y="38100"/>
                </a:cubicBezTo>
                <a:lnTo>
                  <a:pt x="5334000" y="38100"/>
                </a:lnTo>
                <a:cubicBezTo>
                  <a:pt x="5334000" y="59142"/>
                  <a:pt x="5312678" y="76200"/>
                  <a:pt x="5286375" y="76200"/>
                </a:cubicBezTo>
                <a:lnTo>
                  <a:pt x="47625" y="76200"/>
                </a:lnTo>
                <a:cubicBezTo>
                  <a:pt x="21322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21322" y="0"/>
                  <a:pt x="47625" y="0"/>
                </a:cubicBezTo>
                <a:close/>
              </a:path>
            </a:pathLst>
          </a:custGeom>
          <a:solidFill>
            <a:srgbClr val="1B6B3A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555105" y="280701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著录格式示例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558915" y="3125152"/>
            <a:ext cx="6949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专著 [M]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59868" y="3323749"/>
            <a:ext cx="30080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[1] 张三. 书名[M]. 北京: 出版社, 2020: 120.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286500" y="3524250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6558915" y="3620452"/>
            <a:ext cx="6626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期刊 [J]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559868" y="3819049"/>
            <a:ext cx="35277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[2] 李四. 文章标题[J]. 期刊名, 2021, 15(3): 45-67.</a:t>
            </a:r>
          </a:p>
        </p:txBody>
      </p:sp>
      <p:sp>
        <p:nvSpPr>
          <p:cNvPr id="51" name="Rectangle 51"/>
          <p:cNvSpPr/>
          <p:nvPr/>
        </p:nvSpPr>
        <p:spPr>
          <a:xfrm>
            <a:off x="6286500" y="4019550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558915" y="4115752"/>
            <a:ext cx="984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学位论文 [D]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59868" y="4314349"/>
            <a:ext cx="34067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[3] 王五. 论文题目[D]. 武汉: 华中师范大学, 2022.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286500" y="4514850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6559868" y="4466749"/>
            <a:ext cx="28727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英文文献格式相同，作者姓后名前，逗号分隔</a:t>
            </a:r>
          </a:p>
        </p:txBody>
      </p:sp>
      <p:sp>
        <p:nvSpPr>
          <p:cNvPr id="56" name="Freeform 56"/>
          <p:cNvSpPr/>
          <p:nvPr/>
        </p:nvSpPr>
        <p:spPr>
          <a:xfrm>
            <a:off x="571500" y="4905375"/>
            <a:ext cx="11049000" cy="571500"/>
          </a:xfrm>
          <a:custGeom>
            <a:avLst/>
            <a:gdLst/>
            <a:ahLst/>
            <a:cxnLst/>
            <a:rect l="l" t="t" r="r" b="b"/>
            <a:pathLst>
              <a:path w="11049000" h="571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495300"/>
                </a:lnTo>
                <a:cubicBezTo>
                  <a:pt x="11049000" y="537384"/>
                  <a:pt x="11014884" y="571500"/>
                  <a:pt x="10972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BF5EF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42962" y="5022056"/>
            <a:ext cx="8911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数量建议：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2081212" y="5022056"/>
            <a:ext cx="19180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博士 ≥80 篇（外文 ≥1/3）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700712" y="5022056"/>
            <a:ext cx="29039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硕士 ≥20 篇（外文 ≥1/3，视专业而定）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43915" y="5258752"/>
            <a:ext cx="54323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文献字体：中文小四宋体（硕）/ 五号宋体（博）；英文对应 Times New Roman</a:t>
            </a:r>
          </a:p>
        </p:txBody>
      </p:sp>
      <p:sp>
        <p:nvSpPr>
          <p:cNvPr id="61" name="Rectangle 61"/>
          <p:cNvSpPr/>
          <p:nvPr/>
        </p:nvSpPr>
        <p:spPr>
          <a:xfrm>
            <a:off x="571500" y="59055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941070" y="5998845"/>
            <a:ext cx="25203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华中师范大学研究生学位论文撰写格式标准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933408" y="5998845"/>
            <a:ext cx="3251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Arial"/>
                <a:ea typeface="Microsoft YaHei"/>
                <a:cs typeface="Arial"/>
              </a:rPr>
              <a:t>8 / 11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B6B3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45405" y="255270"/>
            <a:ext cx="190119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附录与致谢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652391" y="632460"/>
            <a:ext cx="28872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附录内容 · 编号规则 · 致谢撰写要求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000125"/>
            <a:ext cx="5429250" cy="4857750"/>
          </a:xfrm>
          <a:custGeom>
            <a:avLst/>
            <a:gdLst/>
            <a:ahLst/>
            <a:cxnLst/>
            <a:rect l="l" t="t" r="r" b="b"/>
            <a:pathLst>
              <a:path w="5429250" h="4857750">
                <a:moveTo>
                  <a:pt x="95250" y="0"/>
                </a:moveTo>
                <a:lnTo>
                  <a:pt x="5334000" y="0"/>
                </a:lnTo>
                <a:cubicBezTo>
                  <a:pt x="5386605" y="0"/>
                  <a:pt x="5429250" y="42645"/>
                  <a:pt x="5429250" y="95250"/>
                </a:cubicBezTo>
                <a:lnTo>
                  <a:pt x="5429250" y="4762500"/>
                </a:lnTo>
                <a:cubicBezTo>
                  <a:pt x="5429250" y="4815105"/>
                  <a:pt x="5386605" y="4857750"/>
                  <a:pt x="5334000" y="4857750"/>
                </a:cubicBezTo>
                <a:lnTo>
                  <a:pt x="95250" y="4857750"/>
                </a:lnTo>
                <a:cubicBezTo>
                  <a:pt x="42645" y="4857750"/>
                  <a:pt x="0" y="4815105"/>
                  <a:pt x="0" y="4762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2E8F0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571500" y="1000125"/>
            <a:ext cx="5429250" cy="76200"/>
          </a:xfrm>
          <a:custGeom>
            <a:avLst/>
            <a:gdLst/>
            <a:ahLst/>
            <a:cxnLst/>
            <a:rect l="l" t="t" r="r" b="b"/>
            <a:pathLst>
              <a:path w="5429250" h="76200">
                <a:moveTo>
                  <a:pt x="47625" y="0"/>
                </a:moveTo>
                <a:lnTo>
                  <a:pt x="5381625" y="0"/>
                </a:lnTo>
                <a:cubicBezTo>
                  <a:pt x="5407928" y="0"/>
                  <a:pt x="5429250" y="17058"/>
                  <a:pt x="5429250" y="38100"/>
                </a:cubicBezTo>
                <a:lnTo>
                  <a:pt x="5429250" y="38100"/>
                </a:lnTo>
                <a:cubicBezTo>
                  <a:pt x="5429250" y="59142"/>
                  <a:pt x="5407928" y="76200"/>
                  <a:pt x="5381625" y="76200"/>
                </a:cubicBezTo>
                <a:lnTo>
                  <a:pt x="47625" y="76200"/>
                </a:lnTo>
                <a:cubicBezTo>
                  <a:pt x="21322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21322" y="0"/>
                  <a:pt x="47625" y="0"/>
                </a:cubicBezTo>
                <a:close/>
              </a:path>
            </a:pathLst>
          </a:custGeom>
          <a:solidFill>
            <a:srgbClr val="1B6B3A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234066" y="1183958"/>
            <a:ext cx="210411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附录（Appendix）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2010" y="1537335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可收录内容</a:t>
            </a:r>
          </a:p>
        </p:txBody>
      </p:sp>
      <p:sp>
        <p:nvSpPr>
          <p:cNvPr id="10" name="Freeform 10"/>
          <p:cNvSpPr/>
          <p:nvPr/>
        </p:nvSpPr>
        <p:spPr>
          <a:xfrm>
            <a:off x="857250" y="1790700"/>
            <a:ext cx="4857750" cy="361950"/>
          </a:xfrm>
          <a:custGeom>
            <a:avLst/>
            <a:gdLst/>
            <a:ahLst/>
            <a:cxnLst/>
            <a:rect l="l" t="t" r="r" b="b"/>
            <a:pathLst>
              <a:path w="4857750" h="361950">
                <a:moveTo>
                  <a:pt x="57150" y="0"/>
                </a:moveTo>
                <a:lnTo>
                  <a:pt x="4800600" y="0"/>
                </a:lnTo>
                <a:cubicBezTo>
                  <a:pt x="4832163" y="0"/>
                  <a:pt x="4857750" y="25587"/>
                  <a:pt x="4857750" y="57150"/>
                </a:cubicBezTo>
                <a:lnTo>
                  <a:pt x="4857750" y="304800"/>
                </a:lnTo>
                <a:cubicBezTo>
                  <a:pt x="4857750" y="336363"/>
                  <a:pt x="4832163" y="361950"/>
                  <a:pt x="480060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BF5E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33462" y="1907381"/>
            <a:ext cx="263282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① 公式推导过程（正文中省略部分）</a:t>
            </a:r>
          </a:p>
        </p:txBody>
      </p:sp>
      <p:sp>
        <p:nvSpPr>
          <p:cNvPr id="12" name="Freeform 12"/>
          <p:cNvSpPr/>
          <p:nvPr/>
        </p:nvSpPr>
        <p:spPr>
          <a:xfrm>
            <a:off x="857250" y="2209800"/>
            <a:ext cx="4857750" cy="361950"/>
          </a:xfrm>
          <a:custGeom>
            <a:avLst/>
            <a:gdLst/>
            <a:ahLst/>
            <a:cxnLst/>
            <a:rect l="l" t="t" r="r" b="b"/>
            <a:pathLst>
              <a:path w="4857750" h="361950">
                <a:moveTo>
                  <a:pt x="57150" y="0"/>
                </a:moveTo>
                <a:lnTo>
                  <a:pt x="4800600" y="0"/>
                </a:lnTo>
                <a:cubicBezTo>
                  <a:pt x="4832163" y="0"/>
                  <a:pt x="4857750" y="25587"/>
                  <a:pt x="4857750" y="57150"/>
                </a:cubicBezTo>
                <a:lnTo>
                  <a:pt x="4857750" y="304800"/>
                </a:lnTo>
                <a:cubicBezTo>
                  <a:pt x="4857750" y="336363"/>
                  <a:pt x="4832163" y="361950"/>
                  <a:pt x="480060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8FAFB"/>
          </a:solidFill>
          <a:ln w="9525">
            <a:solidFill>
              <a:srgbClr val="E2E8F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033462" y="2326481"/>
            <a:ext cx="23042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② 实验数据原始记录及详细统计</a:t>
            </a:r>
          </a:p>
        </p:txBody>
      </p:sp>
      <p:sp>
        <p:nvSpPr>
          <p:cNvPr id="14" name="Freeform 14"/>
          <p:cNvSpPr/>
          <p:nvPr/>
        </p:nvSpPr>
        <p:spPr>
          <a:xfrm>
            <a:off x="857250" y="2628900"/>
            <a:ext cx="4857750" cy="361950"/>
          </a:xfrm>
          <a:custGeom>
            <a:avLst/>
            <a:gdLst/>
            <a:ahLst/>
            <a:cxnLst/>
            <a:rect l="l" t="t" r="r" b="b"/>
            <a:pathLst>
              <a:path w="4857750" h="361950">
                <a:moveTo>
                  <a:pt x="57150" y="0"/>
                </a:moveTo>
                <a:lnTo>
                  <a:pt x="4800600" y="0"/>
                </a:lnTo>
                <a:cubicBezTo>
                  <a:pt x="4832163" y="0"/>
                  <a:pt x="4857750" y="25587"/>
                  <a:pt x="4857750" y="57150"/>
                </a:cubicBezTo>
                <a:lnTo>
                  <a:pt x="4857750" y="304800"/>
                </a:lnTo>
                <a:cubicBezTo>
                  <a:pt x="4857750" y="336363"/>
                  <a:pt x="4832163" y="361950"/>
                  <a:pt x="480060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8FAFB"/>
          </a:solidFill>
          <a:ln w="9525">
            <a:solidFill>
              <a:srgbClr val="E2E8F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1033462" y="2745581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③ 计算机程序 / 代码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048000"/>
            <a:ext cx="4857750" cy="361950"/>
          </a:xfrm>
          <a:custGeom>
            <a:avLst/>
            <a:gdLst/>
            <a:ahLst/>
            <a:cxnLst/>
            <a:rect l="l" t="t" r="r" b="b"/>
            <a:pathLst>
              <a:path w="4857750" h="361950">
                <a:moveTo>
                  <a:pt x="57150" y="0"/>
                </a:moveTo>
                <a:lnTo>
                  <a:pt x="4800600" y="0"/>
                </a:lnTo>
                <a:cubicBezTo>
                  <a:pt x="4832163" y="0"/>
                  <a:pt x="4857750" y="25587"/>
                  <a:pt x="4857750" y="57150"/>
                </a:cubicBezTo>
                <a:lnTo>
                  <a:pt x="4857750" y="304800"/>
                </a:lnTo>
                <a:cubicBezTo>
                  <a:pt x="4857750" y="336363"/>
                  <a:pt x="4832163" y="361950"/>
                  <a:pt x="480060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8FAFB"/>
          </a:solidFill>
          <a:ln w="9525">
            <a:solidFill>
              <a:srgbClr val="E2E8F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033462" y="3164681"/>
            <a:ext cx="23042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④ 攻读学位期间发表的学术论文</a:t>
            </a:r>
          </a:p>
        </p:txBody>
      </p:sp>
      <p:sp>
        <p:nvSpPr>
          <p:cNvPr id="18" name="Freeform 18"/>
          <p:cNvSpPr/>
          <p:nvPr/>
        </p:nvSpPr>
        <p:spPr>
          <a:xfrm>
            <a:off x="857250" y="3467100"/>
            <a:ext cx="4857750" cy="361950"/>
          </a:xfrm>
          <a:custGeom>
            <a:avLst/>
            <a:gdLst/>
            <a:ahLst/>
            <a:cxnLst/>
            <a:rect l="l" t="t" r="r" b="b"/>
            <a:pathLst>
              <a:path w="4857750" h="361950">
                <a:moveTo>
                  <a:pt x="57150" y="0"/>
                </a:moveTo>
                <a:lnTo>
                  <a:pt x="4800600" y="0"/>
                </a:lnTo>
                <a:cubicBezTo>
                  <a:pt x="4832163" y="0"/>
                  <a:pt x="4857750" y="25587"/>
                  <a:pt x="4857750" y="57150"/>
                </a:cubicBezTo>
                <a:lnTo>
                  <a:pt x="4857750" y="304800"/>
                </a:lnTo>
                <a:cubicBezTo>
                  <a:pt x="4857750" y="336363"/>
                  <a:pt x="4832163" y="361950"/>
                  <a:pt x="480060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8FAFB"/>
          </a:solidFill>
          <a:ln w="9525">
            <a:solidFill>
              <a:srgbClr val="E2E8F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033462" y="3583781"/>
            <a:ext cx="13183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⑤ 阅读型参考文献</a:t>
            </a:r>
          </a:p>
        </p:txBody>
      </p:sp>
      <p:sp>
        <p:nvSpPr>
          <p:cNvPr id="20" name="Freeform 20"/>
          <p:cNvSpPr/>
          <p:nvPr/>
        </p:nvSpPr>
        <p:spPr>
          <a:xfrm>
            <a:off x="857250" y="3886200"/>
            <a:ext cx="4857750" cy="361950"/>
          </a:xfrm>
          <a:custGeom>
            <a:avLst/>
            <a:gdLst/>
            <a:ahLst/>
            <a:cxnLst/>
            <a:rect l="l" t="t" r="r" b="b"/>
            <a:pathLst>
              <a:path w="4857750" h="361950">
                <a:moveTo>
                  <a:pt x="57150" y="0"/>
                </a:moveTo>
                <a:lnTo>
                  <a:pt x="4800600" y="0"/>
                </a:lnTo>
                <a:cubicBezTo>
                  <a:pt x="4832163" y="0"/>
                  <a:pt x="4857750" y="25587"/>
                  <a:pt x="4857750" y="57150"/>
                </a:cubicBezTo>
                <a:lnTo>
                  <a:pt x="4857750" y="304800"/>
                </a:lnTo>
                <a:cubicBezTo>
                  <a:pt x="4857750" y="336363"/>
                  <a:pt x="4832163" y="361950"/>
                  <a:pt x="480060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EF9E8"/>
          </a:solidFill>
          <a:ln w="9525">
            <a:solidFill>
              <a:srgbClr val="FED7A0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1033462" y="4002881"/>
            <a:ext cx="312574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D4A017"/>
                </a:solidFill>
                <a:latin typeface="Segoe UI"/>
                <a:ea typeface="Microsoft YaHei"/>
                <a:cs typeface="Segoe UI"/>
              </a:rPr>
              <a:t>⑥ 博士必须：攻读期发表论著（正式发表）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2010" y="43472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编号规则</a:t>
            </a:r>
          </a:p>
        </p:txBody>
      </p:sp>
      <p:sp>
        <p:nvSpPr>
          <p:cNvPr id="23" name="Freeform 23"/>
          <p:cNvSpPr/>
          <p:nvPr/>
        </p:nvSpPr>
        <p:spPr>
          <a:xfrm>
            <a:off x="857250" y="4572000"/>
            <a:ext cx="4857750" cy="571500"/>
          </a:xfrm>
          <a:custGeom>
            <a:avLst/>
            <a:gdLst/>
            <a:ahLst/>
            <a:cxnLst/>
            <a:rect l="l" t="t" r="r" b="b"/>
            <a:pathLst>
              <a:path w="4857750" h="571500">
                <a:moveTo>
                  <a:pt x="57150" y="0"/>
                </a:moveTo>
                <a:lnTo>
                  <a:pt x="4800600" y="0"/>
                </a:lnTo>
                <a:cubicBezTo>
                  <a:pt x="4832163" y="0"/>
                  <a:pt x="4857750" y="25587"/>
                  <a:pt x="4857750" y="57150"/>
                </a:cubicBezTo>
                <a:lnTo>
                  <a:pt x="4857750" y="514350"/>
                </a:lnTo>
                <a:cubicBezTo>
                  <a:pt x="4857750" y="545913"/>
                  <a:pt x="4832163" y="571500"/>
                  <a:pt x="4800600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BF5EF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033462" y="4669631"/>
            <a:ext cx="20331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附录 A、附录 B、附录 C...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4415" y="4887278"/>
            <a:ext cx="24266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附录内部图表编号：图 A.1、表 B.2</a:t>
            </a:r>
          </a:p>
        </p:txBody>
      </p:sp>
      <p:sp>
        <p:nvSpPr>
          <p:cNvPr id="26" name="Freeform 26"/>
          <p:cNvSpPr/>
          <p:nvPr/>
        </p:nvSpPr>
        <p:spPr>
          <a:xfrm>
            <a:off x="857250" y="5238750"/>
            <a:ext cx="4857750" cy="495300"/>
          </a:xfrm>
          <a:custGeom>
            <a:avLst/>
            <a:gdLst/>
            <a:ahLst/>
            <a:cxnLst/>
            <a:rect l="l" t="t" r="r" b="b"/>
            <a:pathLst>
              <a:path w="4857750" h="495300">
                <a:moveTo>
                  <a:pt x="57150" y="0"/>
                </a:moveTo>
                <a:lnTo>
                  <a:pt x="4800600" y="0"/>
                </a:lnTo>
                <a:cubicBezTo>
                  <a:pt x="4832163" y="0"/>
                  <a:pt x="4857750" y="25587"/>
                  <a:pt x="4857750" y="57150"/>
                </a:cubicBezTo>
                <a:lnTo>
                  <a:pt x="4857750" y="438150"/>
                </a:lnTo>
                <a:cubicBezTo>
                  <a:pt x="4857750" y="469713"/>
                  <a:pt x="4832163" y="495300"/>
                  <a:pt x="480060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5F5"/>
          </a:solidFill>
          <a:ln w="9525">
            <a:solidFill>
              <a:srgbClr val="FEB2B2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034415" y="5334952"/>
            <a:ext cx="29403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3E3E"/>
                </a:solidFill>
                <a:latin typeface="Segoe UI"/>
                <a:ea typeface="Microsoft YaHei"/>
                <a:cs typeface="Segoe UI"/>
              </a:rPr>
              <a:t>非中文撰写须附详细中文摘要（作为附录）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4415" y="5525452"/>
            <a:ext cx="21506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博士 ≥8000 字 / 硕士 ≥3000 字</a:t>
            </a:r>
          </a:p>
        </p:txBody>
      </p:sp>
      <p:sp>
        <p:nvSpPr>
          <p:cNvPr id="29" name="Freeform 29"/>
          <p:cNvSpPr/>
          <p:nvPr/>
        </p:nvSpPr>
        <p:spPr>
          <a:xfrm>
            <a:off x="6191250" y="1000125"/>
            <a:ext cx="5429250" cy="4857750"/>
          </a:xfrm>
          <a:custGeom>
            <a:avLst/>
            <a:gdLst/>
            <a:ahLst/>
            <a:cxnLst/>
            <a:rect l="l" t="t" r="r" b="b"/>
            <a:pathLst>
              <a:path w="5429250" h="4857750">
                <a:moveTo>
                  <a:pt x="95250" y="0"/>
                </a:moveTo>
                <a:lnTo>
                  <a:pt x="5334000" y="0"/>
                </a:lnTo>
                <a:cubicBezTo>
                  <a:pt x="5386605" y="0"/>
                  <a:pt x="5429250" y="42645"/>
                  <a:pt x="5429250" y="95250"/>
                </a:cubicBezTo>
                <a:lnTo>
                  <a:pt x="5429250" y="4762500"/>
                </a:lnTo>
                <a:cubicBezTo>
                  <a:pt x="5429250" y="4815105"/>
                  <a:pt x="5386605" y="4857750"/>
                  <a:pt x="5334000" y="4857750"/>
                </a:cubicBezTo>
                <a:lnTo>
                  <a:pt x="95250" y="4857750"/>
                </a:lnTo>
                <a:cubicBezTo>
                  <a:pt x="42645" y="4857750"/>
                  <a:pt x="0" y="4815105"/>
                  <a:pt x="0" y="4762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2E8F0"/>
            </a:solidFill>
          </a:ln>
        </p:spPr>
      </p:sp>
      <p:sp>
        <p:nvSpPr>
          <p:cNvPr id="30" name="Freeform 30"/>
          <p:cNvSpPr/>
          <p:nvPr/>
        </p:nvSpPr>
        <p:spPr>
          <a:xfrm>
            <a:off x="6191250" y="1000125"/>
            <a:ext cx="5429250" cy="76200"/>
          </a:xfrm>
          <a:custGeom>
            <a:avLst/>
            <a:gdLst/>
            <a:ahLst/>
            <a:cxnLst/>
            <a:rect l="l" t="t" r="r" b="b"/>
            <a:pathLst>
              <a:path w="5429250" h="76200">
                <a:moveTo>
                  <a:pt x="47625" y="0"/>
                </a:moveTo>
                <a:lnTo>
                  <a:pt x="5381625" y="0"/>
                </a:lnTo>
                <a:cubicBezTo>
                  <a:pt x="5407928" y="0"/>
                  <a:pt x="5429250" y="17058"/>
                  <a:pt x="5429250" y="38100"/>
                </a:cubicBezTo>
                <a:lnTo>
                  <a:pt x="5429250" y="38100"/>
                </a:lnTo>
                <a:cubicBezTo>
                  <a:pt x="5429250" y="59142"/>
                  <a:pt x="5407928" y="76200"/>
                  <a:pt x="5381625" y="76200"/>
                </a:cubicBezTo>
                <a:lnTo>
                  <a:pt x="47625" y="76200"/>
                </a:lnTo>
                <a:cubicBezTo>
                  <a:pt x="21322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21322" y="0"/>
                  <a:pt x="47625" y="0"/>
                </a:cubicBezTo>
                <a:close/>
              </a:path>
            </a:pathLst>
          </a:custGeom>
          <a:solidFill>
            <a:srgbClr val="D4A017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7246540" y="1183958"/>
            <a:ext cx="331867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D4A017"/>
                </a:solidFill>
                <a:latin typeface="Segoe UI"/>
                <a:ea typeface="Microsoft YaHei"/>
                <a:cs typeface="Segoe UI"/>
              </a:rPr>
              <a:t>致谢（Acknowledgements）</a:t>
            </a:r>
          </a:p>
        </p:txBody>
      </p:sp>
      <p:sp>
        <p:nvSpPr>
          <p:cNvPr id="32" name="Freeform 32"/>
          <p:cNvSpPr/>
          <p:nvPr/>
        </p:nvSpPr>
        <p:spPr>
          <a:xfrm>
            <a:off x="6477000" y="1571625"/>
            <a:ext cx="4857750" cy="533400"/>
          </a:xfrm>
          <a:custGeom>
            <a:avLst/>
            <a:gdLst/>
            <a:ahLst/>
            <a:cxnLst/>
            <a:rect l="l" t="t" r="r" b="b"/>
            <a:pathLst>
              <a:path w="4857750" h="533400">
                <a:moveTo>
                  <a:pt x="57150" y="0"/>
                </a:moveTo>
                <a:lnTo>
                  <a:pt x="4800600" y="0"/>
                </a:lnTo>
                <a:cubicBezTo>
                  <a:pt x="4832163" y="0"/>
                  <a:pt x="4857750" y="25587"/>
                  <a:pt x="4857750" y="57150"/>
                </a:cubicBezTo>
                <a:lnTo>
                  <a:pt x="4857750" y="476250"/>
                </a:lnTo>
                <a:cubicBezTo>
                  <a:pt x="4857750" y="507813"/>
                  <a:pt x="4832163" y="533400"/>
                  <a:pt x="4800600" y="533400"/>
                </a:cubicBezTo>
                <a:lnTo>
                  <a:pt x="57150" y="533400"/>
                </a:lnTo>
                <a:cubicBezTo>
                  <a:pt x="25587" y="533400"/>
                  <a:pt x="0" y="507813"/>
                  <a:pt x="0" y="4762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EF9E8"/>
          </a:solidFill>
          <a:ln w="9525">
            <a:solidFill>
              <a:srgbClr val="FED7A0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654165" y="1677352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A017"/>
                </a:solidFill>
                <a:latin typeface="Segoe UI"/>
                <a:ea typeface="Microsoft YaHei"/>
                <a:cs typeface="Segoe UI"/>
              </a:rPr>
              <a:t>位置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4165" y="1886902"/>
            <a:ext cx="24803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位于参考文献和附录之后，论文末尾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461760" y="2232660"/>
            <a:ext cx="15026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致谢对象（参考）</a:t>
            </a:r>
          </a:p>
        </p:txBody>
      </p:sp>
      <p:sp>
        <p:nvSpPr>
          <p:cNvPr id="36" name="Freeform 36"/>
          <p:cNvSpPr/>
          <p:nvPr/>
        </p:nvSpPr>
        <p:spPr>
          <a:xfrm>
            <a:off x="6477000" y="2476500"/>
            <a:ext cx="4857750" cy="361950"/>
          </a:xfrm>
          <a:custGeom>
            <a:avLst/>
            <a:gdLst/>
            <a:ahLst/>
            <a:cxnLst/>
            <a:rect l="l" t="t" r="r" b="b"/>
            <a:pathLst>
              <a:path w="4857750" h="361950">
                <a:moveTo>
                  <a:pt x="57150" y="0"/>
                </a:moveTo>
                <a:lnTo>
                  <a:pt x="4800600" y="0"/>
                </a:lnTo>
                <a:cubicBezTo>
                  <a:pt x="4832163" y="0"/>
                  <a:pt x="4857750" y="25587"/>
                  <a:pt x="4857750" y="57150"/>
                </a:cubicBezTo>
                <a:lnTo>
                  <a:pt x="4857750" y="304800"/>
                </a:lnTo>
                <a:cubicBezTo>
                  <a:pt x="4857750" y="336363"/>
                  <a:pt x="4832163" y="361950"/>
                  <a:pt x="480060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BF5EF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653212" y="2593181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指导教师（最重要）</a:t>
            </a:r>
          </a:p>
        </p:txBody>
      </p:sp>
      <p:sp>
        <p:nvSpPr>
          <p:cNvPr id="38" name="Freeform 38"/>
          <p:cNvSpPr/>
          <p:nvPr/>
        </p:nvSpPr>
        <p:spPr>
          <a:xfrm>
            <a:off x="6477000" y="2895600"/>
            <a:ext cx="4857750" cy="361950"/>
          </a:xfrm>
          <a:custGeom>
            <a:avLst/>
            <a:gdLst/>
            <a:ahLst/>
            <a:cxnLst/>
            <a:rect l="l" t="t" r="r" b="b"/>
            <a:pathLst>
              <a:path w="4857750" h="361950">
                <a:moveTo>
                  <a:pt x="57150" y="0"/>
                </a:moveTo>
                <a:lnTo>
                  <a:pt x="4800600" y="0"/>
                </a:lnTo>
                <a:cubicBezTo>
                  <a:pt x="4832163" y="0"/>
                  <a:pt x="4857750" y="25587"/>
                  <a:pt x="4857750" y="57150"/>
                </a:cubicBezTo>
                <a:lnTo>
                  <a:pt x="4857750" y="304800"/>
                </a:lnTo>
                <a:cubicBezTo>
                  <a:pt x="4857750" y="336363"/>
                  <a:pt x="4832163" y="361950"/>
                  <a:pt x="480060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8FAFB"/>
          </a:solidFill>
          <a:ln w="9525">
            <a:solidFill>
              <a:srgbClr val="E2E8F0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6653212" y="3012281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论文评阅人与答辩委员会成员</a:t>
            </a:r>
          </a:p>
        </p:txBody>
      </p:sp>
      <p:sp>
        <p:nvSpPr>
          <p:cNvPr id="40" name="Freeform 40"/>
          <p:cNvSpPr/>
          <p:nvPr/>
        </p:nvSpPr>
        <p:spPr>
          <a:xfrm>
            <a:off x="6477000" y="3314700"/>
            <a:ext cx="4857750" cy="361950"/>
          </a:xfrm>
          <a:custGeom>
            <a:avLst/>
            <a:gdLst/>
            <a:ahLst/>
            <a:cxnLst/>
            <a:rect l="l" t="t" r="r" b="b"/>
            <a:pathLst>
              <a:path w="4857750" h="361950">
                <a:moveTo>
                  <a:pt x="57150" y="0"/>
                </a:moveTo>
                <a:lnTo>
                  <a:pt x="4800600" y="0"/>
                </a:lnTo>
                <a:cubicBezTo>
                  <a:pt x="4832163" y="0"/>
                  <a:pt x="4857750" y="25587"/>
                  <a:pt x="4857750" y="57150"/>
                </a:cubicBezTo>
                <a:lnTo>
                  <a:pt x="4857750" y="304800"/>
                </a:lnTo>
                <a:cubicBezTo>
                  <a:pt x="4857750" y="336363"/>
                  <a:pt x="4832163" y="361950"/>
                  <a:pt x="480060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8FAFB"/>
          </a:solidFill>
          <a:ln w="9525">
            <a:solidFill>
              <a:srgbClr val="E2E8F0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6653212" y="3431381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科研资助单位及基金项目</a:t>
            </a:r>
          </a:p>
        </p:txBody>
      </p:sp>
      <p:sp>
        <p:nvSpPr>
          <p:cNvPr id="42" name="Freeform 42"/>
          <p:cNvSpPr/>
          <p:nvPr/>
        </p:nvSpPr>
        <p:spPr>
          <a:xfrm>
            <a:off x="6477000" y="3733800"/>
            <a:ext cx="4857750" cy="361950"/>
          </a:xfrm>
          <a:custGeom>
            <a:avLst/>
            <a:gdLst/>
            <a:ahLst/>
            <a:cxnLst/>
            <a:rect l="l" t="t" r="r" b="b"/>
            <a:pathLst>
              <a:path w="4857750" h="361950">
                <a:moveTo>
                  <a:pt x="57150" y="0"/>
                </a:moveTo>
                <a:lnTo>
                  <a:pt x="4800600" y="0"/>
                </a:lnTo>
                <a:cubicBezTo>
                  <a:pt x="4832163" y="0"/>
                  <a:pt x="4857750" y="25587"/>
                  <a:pt x="4857750" y="57150"/>
                </a:cubicBezTo>
                <a:lnTo>
                  <a:pt x="4857750" y="304800"/>
                </a:lnTo>
                <a:cubicBezTo>
                  <a:pt x="4857750" y="336363"/>
                  <a:pt x="4832163" y="361950"/>
                  <a:pt x="480060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8FAFB"/>
          </a:solidFill>
          <a:ln w="9525">
            <a:solidFill>
              <a:srgbClr val="E2E8F0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6653212" y="3850481"/>
            <a:ext cx="2328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提供帮助的同学、合作者、机构</a:t>
            </a:r>
          </a:p>
        </p:txBody>
      </p:sp>
      <p:sp>
        <p:nvSpPr>
          <p:cNvPr id="44" name="Freeform 44"/>
          <p:cNvSpPr/>
          <p:nvPr/>
        </p:nvSpPr>
        <p:spPr>
          <a:xfrm>
            <a:off x="6477000" y="4152900"/>
            <a:ext cx="4857750" cy="361950"/>
          </a:xfrm>
          <a:custGeom>
            <a:avLst/>
            <a:gdLst/>
            <a:ahLst/>
            <a:cxnLst/>
            <a:rect l="l" t="t" r="r" b="b"/>
            <a:pathLst>
              <a:path w="4857750" h="361950">
                <a:moveTo>
                  <a:pt x="57150" y="0"/>
                </a:moveTo>
                <a:lnTo>
                  <a:pt x="4800600" y="0"/>
                </a:lnTo>
                <a:cubicBezTo>
                  <a:pt x="4832163" y="0"/>
                  <a:pt x="4857750" y="25587"/>
                  <a:pt x="4857750" y="57150"/>
                </a:cubicBezTo>
                <a:lnTo>
                  <a:pt x="4857750" y="304800"/>
                </a:lnTo>
                <a:cubicBezTo>
                  <a:pt x="4857750" y="336363"/>
                  <a:pt x="4832163" y="361950"/>
                  <a:pt x="480060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8FAFB"/>
          </a:solidFill>
          <a:ln w="9525">
            <a:solidFill>
              <a:srgbClr val="E2E8F0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6653212" y="4269581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家人的支持与鼓励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461760" y="46329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格式要求</a:t>
            </a:r>
          </a:p>
        </p:txBody>
      </p:sp>
      <p:sp>
        <p:nvSpPr>
          <p:cNvPr id="47" name="Freeform 47"/>
          <p:cNvSpPr/>
          <p:nvPr/>
        </p:nvSpPr>
        <p:spPr>
          <a:xfrm>
            <a:off x="6477000" y="4857750"/>
            <a:ext cx="4857750" cy="876300"/>
          </a:xfrm>
          <a:custGeom>
            <a:avLst/>
            <a:gdLst/>
            <a:ahLst/>
            <a:cxnLst/>
            <a:rect l="l" t="t" r="r" b="b"/>
            <a:pathLst>
              <a:path w="4857750" h="876300">
                <a:moveTo>
                  <a:pt x="57150" y="0"/>
                </a:moveTo>
                <a:lnTo>
                  <a:pt x="4800600" y="0"/>
                </a:lnTo>
                <a:cubicBezTo>
                  <a:pt x="4832163" y="0"/>
                  <a:pt x="4857750" y="25587"/>
                  <a:pt x="4857750" y="57150"/>
                </a:cubicBezTo>
                <a:lnTo>
                  <a:pt x="4857750" y="819150"/>
                </a:lnTo>
                <a:cubicBezTo>
                  <a:pt x="4857750" y="850713"/>
                  <a:pt x="4832163" y="876300"/>
                  <a:pt x="4800600" y="876300"/>
                </a:cubicBezTo>
                <a:lnTo>
                  <a:pt x="57150" y="876300"/>
                </a:lnTo>
                <a:cubicBezTo>
                  <a:pt x="25587" y="876300"/>
                  <a:pt x="0" y="850713"/>
                  <a:pt x="0" y="819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EF9E8"/>
          </a:solidFill>
          <a:ln w="9525">
            <a:solidFill>
              <a:srgbClr val="FED7A0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6654165" y="4963478"/>
            <a:ext cx="23192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标题"致谢"：三号黑体加粗居中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654165" y="5173028"/>
            <a:ext cx="18438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正文字体与正文章节相同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654165" y="5382578"/>
            <a:ext cx="19972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· 另起一页，首行缩进两字符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655118" y="5552599"/>
            <a:ext cx="17121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· 语言真诚，避免过度夸张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71500" y="62865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941070" y="6360795"/>
            <a:ext cx="25203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华中师范大学研究生学位论文撰写格式标准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933408" y="6360795"/>
            <a:ext cx="3251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Arial"/>
                <a:ea typeface="Microsoft YaHei"/>
                <a:cs typeface="Arial"/>
              </a:rPr>
              <a:t>9 / 11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B6B3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961382" y="255270"/>
            <a:ext cx="226923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排版格式要点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052125" y="632460"/>
            <a:ext cx="40877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页面设置 · 字体字号 · 行距页码 · 硕士 vs 博士对比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000125"/>
            <a:ext cx="11049000" cy="438150"/>
          </a:xfrm>
          <a:custGeom>
            <a:avLst/>
            <a:gdLst/>
            <a:ahLst/>
            <a:cxnLst/>
            <a:rect l="l" t="t" r="r" b="b"/>
            <a:pathLst>
              <a:path w="11049000" h="4381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361950"/>
                </a:lnTo>
                <a:cubicBezTo>
                  <a:pt x="11049000" y="404034"/>
                  <a:pt x="11014884" y="438150"/>
                  <a:pt x="10972800" y="438150"/>
                </a:cubicBezTo>
                <a:lnTo>
                  <a:pt x="76200" y="438150"/>
                </a:lnTo>
                <a:cubicBezTo>
                  <a:pt x="34116" y="438150"/>
                  <a:pt x="0" y="404034"/>
                  <a:pt x="0" y="3619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B6B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21714" y="11468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参数项目</a:t>
            </a:r>
          </a:p>
        </p:txBody>
      </p:sp>
      <p:sp>
        <p:nvSpPr>
          <p:cNvPr id="8" name="Rectangle 8"/>
          <p:cNvSpPr/>
          <p:nvPr/>
        </p:nvSpPr>
        <p:spPr>
          <a:xfrm>
            <a:off x="4095750" y="1047750"/>
            <a:ext cx="9525" cy="34290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338191" y="114681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硕士学位论文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905750" y="1047750"/>
            <a:ext cx="9525" cy="34290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9338691" y="114681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博士学位论文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1438275"/>
            <a:ext cx="11049000" cy="419100"/>
          </a:xfrm>
          <a:prstGeom prst="rect">
            <a:avLst/>
          </a:prstGeom>
          <a:solidFill>
            <a:srgbClr val="F8FAFB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571500" y="14382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726406" y="1583531"/>
            <a:ext cx="3571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纸张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217557" y="1583531"/>
            <a:ext cx="137588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A4（210×297mm）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218057" y="1583531"/>
            <a:ext cx="137588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A4（210×297mm）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71500" y="1857375"/>
            <a:ext cx="110490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571500" y="18573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644253" y="2002631"/>
            <a:ext cx="5214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上边距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24215" y="2002631"/>
            <a:ext cx="56257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3.9 cm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624715" y="2002631"/>
            <a:ext cx="56257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3.9 cm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2276475"/>
            <a:ext cx="11049000" cy="419100"/>
          </a:xfrm>
          <a:prstGeom prst="rect">
            <a:avLst/>
          </a:prstGeom>
          <a:solidFill>
            <a:srgbClr val="F8FAFB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571500" y="22764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644253" y="2421731"/>
            <a:ext cx="5214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下边距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624215" y="2421731"/>
            <a:ext cx="56257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3.5 cm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24715" y="2421731"/>
            <a:ext cx="56257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3.5 cm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2695575"/>
            <a:ext cx="110490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571500" y="26955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644253" y="2840831"/>
            <a:ext cx="5214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左边距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624215" y="2840831"/>
            <a:ext cx="56257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2.8 cm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624715" y="2840831"/>
            <a:ext cx="56257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4A017"/>
                </a:solidFill>
                <a:latin typeface="Segoe UI"/>
                <a:ea typeface="Microsoft YaHei"/>
                <a:cs typeface="Segoe UI"/>
              </a:rPr>
              <a:t>2.9 cm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3114675"/>
            <a:ext cx="11049000" cy="419100"/>
          </a:xfrm>
          <a:prstGeom prst="rect">
            <a:avLst/>
          </a:prstGeom>
          <a:solidFill>
            <a:srgbClr val="F8FAFB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571500" y="31146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644253" y="3259931"/>
            <a:ext cx="5214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右边距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624215" y="3259931"/>
            <a:ext cx="56257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4A017"/>
                </a:solidFill>
                <a:latin typeface="Segoe UI"/>
                <a:ea typeface="Microsoft YaHei"/>
                <a:cs typeface="Segoe UI"/>
              </a:rPr>
              <a:t>3.0 cm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624715" y="3259931"/>
            <a:ext cx="56257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2.9 cm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3533775"/>
            <a:ext cx="110490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571500" y="35337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562100" y="3679031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正文字体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480447" y="3679031"/>
            <a:ext cx="850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小四号宋体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563100" y="3679031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五号宋体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71500" y="3952875"/>
            <a:ext cx="11049000" cy="419100"/>
          </a:xfrm>
          <a:prstGeom prst="rect">
            <a:avLst/>
          </a:prstGeom>
          <a:solidFill>
            <a:srgbClr val="F8FAFB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571500" y="39528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1726406" y="4098131"/>
            <a:ext cx="3571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行距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377755" y="4098131"/>
            <a:ext cx="105548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4A017"/>
                </a:solidFill>
                <a:latin typeface="Segoe UI"/>
                <a:ea typeface="Microsoft YaHei"/>
                <a:cs typeface="Segoe UI"/>
              </a:rPr>
              <a:t>多倍行距 1.25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443978" y="4098131"/>
            <a:ext cx="9240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4A017"/>
                </a:solidFill>
                <a:latin typeface="Segoe UI"/>
                <a:ea typeface="Microsoft YaHei"/>
                <a:cs typeface="Segoe UI"/>
              </a:rPr>
              <a:t>固定值 19 磅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71500" y="4371975"/>
            <a:ext cx="110490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571500" y="43719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1562100" y="4517231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页码位置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726906" y="4517231"/>
            <a:ext cx="3571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4A017"/>
                </a:solidFill>
                <a:latin typeface="Segoe UI"/>
                <a:ea typeface="Microsoft YaHei"/>
                <a:cs typeface="Segoe UI"/>
              </a:rPr>
              <a:t>居中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975705" y="4517231"/>
            <a:ext cx="186059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4A017"/>
                </a:solidFill>
                <a:latin typeface="Segoe UI"/>
                <a:ea typeface="Microsoft YaHei"/>
                <a:cs typeface="Segoe UI"/>
              </a:rPr>
              <a:t>外侧（奇页右 / 偶页左）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71500" y="4791075"/>
            <a:ext cx="11049000" cy="419100"/>
          </a:xfrm>
          <a:prstGeom prst="rect">
            <a:avLst/>
          </a:prstGeom>
          <a:solidFill>
            <a:srgbClr val="F8FAFB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571500" y="47910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1562100" y="4936331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印刷方式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480447" y="4936331"/>
            <a:ext cx="850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可单面印刷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480947" y="4936331"/>
            <a:ext cx="850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53E3E"/>
                </a:solidFill>
                <a:latin typeface="Segoe UI"/>
                <a:ea typeface="Microsoft YaHei"/>
                <a:cs typeface="Segoe UI"/>
              </a:rPr>
              <a:t>须双面印刷</a:t>
            </a:r>
          </a:p>
        </p:txBody>
      </p:sp>
      <p:sp>
        <p:nvSpPr>
          <p:cNvPr id="57" name="Rectangle 57"/>
          <p:cNvSpPr/>
          <p:nvPr/>
        </p:nvSpPr>
        <p:spPr>
          <a:xfrm>
            <a:off x="571500" y="52101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4095750" y="1438275"/>
            <a:ext cx="9525" cy="37814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9" name="Rectangle 59"/>
          <p:cNvSpPr/>
          <p:nvPr/>
        </p:nvSpPr>
        <p:spPr>
          <a:xfrm>
            <a:off x="7905750" y="1438275"/>
            <a:ext cx="9525" cy="37814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60" name="Freeform 60"/>
          <p:cNvSpPr/>
          <p:nvPr/>
        </p:nvSpPr>
        <p:spPr>
          <a:xfrm>
            <a:off x="571500" y="5314950"/>
            <a:ext cx="11049000" cy="552450"/>
          </a:xfrm>
          <a:custGeom>
            <a:avLst/>
            <a:gdLst/>
            <a:ahLst/>
            <a:cxnLst/>
            <a:rect l="l" t="t" r="r" b="b"/>
            <a:pathLst>
              <a:path w="11049000" h="5524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476250"/>
                </a:lnTo>
                <a:cubicBezTo>
                  <a:pt x="11049000" y="518334"/>
                  <a:pt x="11014884" y="552450"/>
                  <a:pt x="10972800" y="552450"/>
                </a:cubicBezTo>
                <a:lnTo>
                  <a:pt x="76200" y="552450"/>
                </a:lnTo>
                <a:cubicBezTo>
                  <a:pt x="34116" y="552450"/>
                  <a:pt x="0" y="518334"/>
                  <a:pt x="0" y="4762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BF5EF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842962" y="5422106"/>
            <a:ext cx="8911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补充说明：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081212" y="5422106"/>
            <a:ext cx="190166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页眉 1.5cm · 页脚 2.7cm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033962" y="5422106"/>
            <a:ext cx="218098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封面用书写纸，内文用优质A4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43915" y="5639752"/>
            <a:ext cx="38604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书脊：依次印年份、论文题目、作者姓名（横竖排均可）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71500" y="62865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941070" y="6360795"/>
            <a:ext cx="25203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华中师范大学研究生学位论文撰写格式标准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913691" y="6360795"/>
            <a:ext cx="3646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Arial"/>
                <a:ea typeface="Microsoft YaHei"/>
                <a:cs typeface="Arial"/>
              </a:rPr>
              <a:t>10 / 11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F9FC"/>
              </a:gs>
              <a:gs pos="100000">
                <a:srgbClr val="E8F0EC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B6B3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961382" y="255270"/>
            <a:ext cx="226923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格式检查清单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665535" y="632460"/>
            <a:ext cx="28609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论文提交前逐项核查 · 确保规范达标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000125"/>
            <a:ext cx="5334000" cy="5143500"/>
          </a:xfrm>
          <a:custGeom>
            <a:avLst/>
            <a:gdLst/>
            <a:ahLst/>
            <a:cxnLst/>
            <a:rect l="l" t="t" r="r" b="b"/>
            <a:pathLst>
              <a:path w="5334000" h="51435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5048250"/>
                </a:lnTo>
                <a:cubicBezTo>
                  <a:pt x="5334000" y="5100855"/>
                  <a:pt x="5291355" y="5143500"/>
                  <a:pt x="5238750" y="5143500"/>
                </a:cubicBezTo>
                <a:lnTo>
                  <a:pt x="95250" y="5143500"/>
                </a:lnTo>
                <a:cubicBezTo>
                  <a:pt x="42645" y="5143500"/>
                  <a:pt x="0" y="5100855"/>
                  <a:pt x="0" y="5048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2E8F0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571500" y="1000125"/>
            <a:ext cx="5334000" cy="76200"/>
          </a:xfrm>
          <a:custGeom>
            <a:avLst/>
            <a:gdLst/>
            <a:ahLst/>
            <a:cxnLst/>
            <a:rect l="l" t="t" r="r" b="b"/>
            <a:pathLst>
              <a:path w="5334000" h="76200">
                <a:moveTo>
                  <a:pt x="47625" y="0"/>
                </a:moveTo>
                <a:lnTo>
                  <a:pt x="5286375" y="0"/>
                </a:lnTo>
                <a:cubicBezTo>
                  <a:pt x="5312678" y="0"/>
                  <a:pt x="5334000" y="17058"/>
                  <a:pt x="5334000" y="38100"/>
                </a:cubicBezTo>
                <a:lnTo>
                  <a:pt x="5334000" y="38100"/>
                </a:lnTo>
                <a:cubicBezTo>
                  <a:pt x="5334000" y="59142"/>
                  <a:pt x="5312678" y="76200"/>
                  <a:pt x="5286375" y="76200"/>
                </a:cubicBezTo>
                <a:lnTo>
                  <a:pt x="47625" y="76200"/>
                </a:lnTo>
                <a:cubicBezTo>
                  <a:pt x="21322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21322" y="0"/>
                  <a:pt x="47625" y="0"/>
                </a:cubicBezTo>
                <a:close/>
              </a:path>
            </a:pathLst>
          </a:custGeom>
          <a:solidFill>
            <a:srgbClr val="1B6B3A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688263" y="1197292"/>
            <a:ext cx="11004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前置 &amp; 结构</a:t>
            </a:r>
          </a:p>
        </p:txBody>
      </p:sp>
      <p:sp>
        <p:nvSpPr>
          <p:cNvPr id="9" name="Freeform 9"/>
          <p:cNvSpPr/>
          <p:nvPr/>
        </p:nvSpPr>
        <p:spPr>
          <a:xfrm>
            <a:off x="809625" y="1476375"/>
            <a:ext cx="4857750" cy="361950"/>
          </a:xfrm>
          <a:custGeom>
            <a:avLst/>
            <a:gdLst/>
            <a:ahLst/>
            <a:cxnLst/>
            <a:rect l="l" t="t" r="r" b="b"/>
            <a:pathLst>
              <a:path w="4857750" h="361950">
                <a:moveTo>
                  <a:pt x="57150" y="0"/>
                </a:moveTo>
                <a:lnTo>
                  <a:pt x="4800600" y="0"/>
                </a:lnTo>
                <a:cubicBezTo>
                  <a:pt x="4832163" y="0"/>
                  <a:pt x="4857750" y="25587"/>
                  <a:pt x="4857750" y="57150"/>
                </a:cubicBezTo>
                <a:lnTo>
                  <a:pt x="4857750" y="304800"/>
                </a:lnTo>
                <a:cubicBezTo>
                  <a:pt x="4857750" y="336363"/>
                  <a:pt x="4832163" y="361950"/>
                  <a:pt x="480060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BF5E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84885" y="158496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✓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23962" y="1593056"/>
            <a:ext cx="36433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封面信息完整（学校、题目、作者、导师、日期）</a:t>
            </a:r>
          </a:p>
        </p:txBody>
      </p:sp>
      <p:sp>
        <p:nvSpPr>
          <p:cNvPr id="12" name="Freeform 12"/>
          <p:cNvSpPr/>
          <p:nvPr/>
        </p:nvSpPr>
        <p:spPr>
          <a:xfrm>
            <a:off x="809625" y="1895475"/>
            <a:ext cx="4857750" cy="361950"/>
          </a:xfrm>
          <a:custGeom>
            <a:avLst/>
            <a:gdLst/>
            <a:ahLst/>
            <a:cxnLst/>
            <a:rect l="l" t="t" r="r" b="b"/>
            <a:pathLst>
              <a:path w="4857750" h="361950">
                <a:moveTo>
                  <a:pt x="57150" y="0"/>
                </a:moveTo>
                <a:lnTo>
                  <a:pt x="4800600" y="0"/>
                </a:lnTo>
                <a:cubicBezTo>
                  <a:pt x="4832163" y="0"/>
                  <a:pt x="4857750" y="25587"/>
                  <a:pt x="4857750" y="57150"/>
                </a:cubicBezTo>
                <a:lnTo>
                  <a:pt x="4857750" y="304800"/>
                </a:lnTo>
                <a:cubicBezTo>
                  <a:pt x="4857750" y="336363"/>
                  <a:pt x="4832163" y="361950"/>
                  <a:pt x="480060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8FAFB"/>
          </a:solidFill>
          <a:ln w="9525">
            <a:solidFill>
              <a:srgbClr val="E2E8F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984885" y="200406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✓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23962" y="2012156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中英文扉页已完成</a:t>
            </a:r>
          </a:p>
        </p:txBody>
      </p:sp>
      <p:sp>
        <p:nvSpPr>
          <p:cNvPr id="15" name="Freeform 15"/>
          <p:cNvSpPr/>
          <p:nvPr/>
        </p:nvSpPr>
        <p:spPr>
          <a:xfrm>
            <a:off x="809625" y="2314575"/>
            <a:ext cx="4857750" cy="361950"/>
          </a:xfrm>
          <a:custGeom>
            <a:avLst/>
            <a:gdLst/>
            <a:ahLst/>
            <a:cxnLst/>
            <a:rect l="l" t="t" r="r" b="b"/>
            <a:pathLst>
              <a:path w="4857750" h="361950">
                <a:moveTo>
                  <a:pt x="57150" y="0"/>
                </a:moveTo>
                <a:lnTo>
                  <a:pt x="4800600" y="0"/>
                </a:lnTo>
                <a:cubicBezTo>
                  <a:pt x="4832163" y="0"/>
                  <a:pt x="4857750" y="25587"/>
                  <a:pt x="4857750" y="57150"/>
                </a:cubicBezTo>
                <a:lnTo>
                  <a:pt x="4857750" y="304800"/>
                </a:lnTo>
                <a:cubicBezTo>
                  <a:pt x="4857750" y="336363"/>
                  <a:pt x="4832163" y="361950"/>
                  <a:pt x="480060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EF9E8"/>
          </a:solidFill>
          <a:ln w="9525">
            <a:solidFill>
              <a:srgbClr val="FED7A0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84885" y="242316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4A017"/>
                </a:solidFill>
                <a:latin typeface="Segoe UI"/>
                <a:ea typeface="Microsoft YaHei"/>
                <a:cs typeface="Segoe UI"/>
              </a:rPr>
              <a:t>✓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23962" y="2431256"/>
            <a:ext cx="2328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原创性声明和授权书已亲笔签名</a:t>
            </a:r>
          </a:p>
        </p:txBody>
      </p:sp>
      <p:sp>
        <p:nvSpPr>
          <p:cNvPr id="18" name="Freeform 18"/>
          <p:cNvSpPr/>
          <p:nvPr/>
        </p:nvSpPr>
        <p:spPr>
          <a:xfrm>
            <a:off x="809625" y="2733675"/>
            <a:ext cx="4857750" cy="361950"/>
          </a:xfrm>
          <a:custGeom>
            <a:avLst/>
            <a:gdLst/>
            <a:ahLst/>
            <a:cxnLst/>
            <a:rect l="l" t="t" r="r" b="b"/>
            <a:pathLst>
              <a:path w="4857750" h="361950">
                <a:moveTo>
                  <a:pt x="57150" y="0"/>
                </a:moveTo>
                <a:lnTo>
                  <a:pt x="4800600" y="0"/>
                </a:lnTo>
                <a:cubicBezTo>
                  <a:pt x="4832163" y="0"/>
                  <a:pt x="4857750" y="25587"/>
                  <a:pt x="4857750" y="57150"/>
                </a:cubicBezTo>
                <a:lnTo>
                  <a:pt x="4857750" y="304800"/>
                </a:lnTo>
                <a:cubicBezTo>
                  <a:pt x="4857750" y="336363"/>
                  <a:pt x="4832163" y="361950"/>
                  <a:pt x="480060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8FAFB"/>
          </a:solidFill>
          <a:ln w="9525">
            <a:solidFill>
              <a:srgbClr val="E2E8F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84885" y="284226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✓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23962" y="285035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中英文摘要格式符合要求</a:t>
            </a:r>
          </a:p>
        </p:txBody>
      </p:sp>
      <p:sp>
        <p:nvSpPr>
          <p:cNvPr id="21" name="Freeform 21"/>
          <p:cNvSpPr/>
          <p:nvPr/>
        </p:nvSpPr>
        <p:spPr>
          <a:xfrm>
            <a:off x="809625" y="3152775"/>
            <a:ext cx="4857750" cy="361950"/>
          </a:xfrm>
          <a:custGeom>
            <a:avLst/>
            <a:gdLst/>
            <a:ahLst/>
            <a:cxnLst/>
            <a:rect l="l" t="t" r="r" b="b"/>
            <a:pathLst>
              <a:path w="4857750" h="361950">
                <a:moveTo>
                  <a:pt x="57150" y="0"/>
                </a:moveTo>
                <a:lnTo>
                  <a:pt x="4800600" y="0"/>
                </a:lnTo>
                <a:cubicBezTo>
                  <a:pt x="4832163" y="0"/>
                  <a:pt x="4857750" y="25587"/>
                  <a:pt x="4857750" y="57150"/>
                </a:cubicBezTo>
                <a:lnTo>
                  <a:pt x="4857750" y="304800"/>
                </a:lnTo>
                <a:cubicBezTo>
                  <a:pt x="4857750" y="336363"/>
                  <a:pt x="4832163" y="361950"/>
                  <a:pt x="480060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BF5E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84885" y="326136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✓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23962" y="3269456"/>
            <a:ext cx="28628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关键词 3-8 个，分号间隔，字号同正文</a:t>
            </a:r>
          </a:p>
        </p:txBody>
      </p:sp>
      <p:sp>
        <p:nvSpPr>
          <p:cNvPr id="24" name="Freeform 24"/>
          <p:cNvSpPr/>
          <p:nvPr/>
        </p:nvSpPr>
        <p:spPr>
          <a:xfrm>
            <a:off x="809625" y="3571875"/>
            <a:ext cx="4857750" cy="361950"/>
          </a:xfrm>
          <a:custGeom>
            <a:avLst/>
            <a:gdLst/>
            <a:ahLst/>
            <a:cxnLst/>
            <a:rect l="l" t="t" r="r" b="b"/>
            <a:pathLst>
              <a:path w="4857750" h="361950">
                <a:moveTo>
                  <a:pt x="57150" y="0"/>
                </a:moveTo>
                <a:lnTo>
                  <a:pt x="4800600" y="0"/>
                </a:lnTo>
                <a:cubicBezTo>
                  <a:pt x="4832163" y="0"/>
                  <a:pt x="4857750" y="25587"/>
                  <a:pt x="4857750" y="57150"/>
                </a:cubicBezTo>
                <a:lnTo>
                  <a:pt x="4857750" y="304800"/>
                </a:lnTo>
                <a:cubicBezTo>
                  <a:pt x="4857750" y="336363"/>
                  <a:pt x="4832163" y="361950"/>
                  <a:pt x="480060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8FAFB"/>
          </a:solidFill>
          <a:ln w="9525">
            <a:solidFill>
              <a:srgbClr val="E2E8F0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984885" y="368046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✓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23962" y="3688556"/>
            <a:ext cx="24931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一级标题另起一页，黑体加粗居中</a:t>
            </a:r>
          </a:p>
        </p:txBody>
      </p:sp>
      <p:sp>
        <p:nvSpPr>
          <p:cNvPr id="27" name="Freeform 27"/>
          <p:cNvSpPr/>
          <p:nvPr/>
        </p:nvSpPr>
        <p:spPr>
          <a:xfrm>
            <a:off x="809625" y="3990975"/>
            <a:ext cx="4857750" cy="361950"/>
          </a:xfrm>
          <a:custGeom>
            <a:avLst/>
            <a:gdLst/>
            <a:ahLst/>
            <a:cxnLst/>
            <a:rect l="l" t="t" r="r" b="b"/>
            <a:pathLst>
              <a:path w="4857750" h="361950">
                <a:moveTo>
                  <a:pt x="57150" y="0"/>
                </a:moveTo>
                <a:lnTo>
                  <a:pt x="4800600" y="0"/>
                </a:lnTo>
                <a:cubicBezTo>
                  <a:pt x="4832163" y="0"/>
                  <a:pt x="4857750" y="25587"/>
                  <a:pt x="4857750" y="57150"/>
                </a:cubicBezTo>
                <a:lnTo>
                  <a:pt x="4857750" y="304800"/>
                </a:lnTo>
                <a:cubicBezTo>
                  <a:pt x="4857750" y="336363"/>
                  <a:pt x="4832163" y="361950"/>
                  <a:pt x="480060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BF5EF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84885" y="409956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✓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23962" y="4107656"/>
            <a:ext cx="2821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目录页码格式正确（右对齐，前导符）</a:t>
            </a:r>
          </a:p>
        </p:txBody>
      </p:sp>
      <p:sp>
        <p:nvSpPr>
          <p:cNvPr id="30" name="Freeform 30"/>
          <p:cNvSpPr/>
          <p:nvPr/>
        </p:nvSpPr>
        <p:spPr>
          <a:xfrm>
            <a:off x="809625" y="4410075"/>
            <a:ext cx="4857750" cy="361950"/>
          </a:xfrm>
          <a:custGeom>
            <a:avLst/>
            <a:gdLst/>
            <a:ahLst/>
            <a:cxnLst/>
            <a:rect l="l" t="t" r="r" b="b"/>
            <a:pathLst>
              <a:path w="4857750" h="361950">
                <a:moveTo>
                  <a:pt x="57150" y="0"/>
                </a:moveTo>
                <a:lnTo>
                  <a:pt x="4800600" y="0"/>
                </a:lnTo>
                <a:cubicBezTo>
                  <a:pt x="4832163" y="0"/>
                  <a:pt x="4857750" y="25587"/>
                  <a:pt x="4857750" y="57150"/>
                </a:cubicBezTo>
                <a:lnTo>
                  <a:pt x="4857750" y="304800"/>
                </a:lnTo>
                <a:cubicBezTo>
                  <a:pt x="4857750" y="336363"/>
                  <a:pt x="4832163" y="361950"/>
                  <a:pt x="480060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8FAFB"/>
          </a:solidFill>
          <a:ln w="9525">
            <a:solidFill>
              <a:srgbClr val="E2E8F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984885" y="451866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✓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23962" y="4526756"/>
            <a:ext cx="26574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摘要页码罗马数字，正文阿拉伯数字</a:t>
            </a:r>
          </a:p>
        </p:txBody>
      </p:sp>
      <p:sp>
        <p:nvSpPr>
          <p:cNvPr id="33" name="Freeform 33"/>
          <p:cNvSpPr/>
          <p:nvPr/>
        </p:nvSpPr>
        <p:spPr>
          <a:xfrm>
            <a:off x="809625" y="4829175"/>
            <a:ext cx="4857750" cy="361950"/>
          </a:xfrm>
          <a:custGeom>
            <a:avLst/>
            <a:gdLst/>
            <a:ahLst/>
            <a:cxnLst/>
            <a:rect l="l" t="t" r="r" b="b"/>
            <a:pathLst>
              <a:path w="4857750" h="361950">
                <a:moveTo>
                  <a:pt x="57150" y="0"/>
                </a:moveTo>
                <a:lnTo>
                  <a:pt x="4800600" y="0"/>
                </a:lnTo>
                <a:cubicBezTo>
                  <a:pt x="4832163" y="0"/>
                  <a:pt x="4857750" y="25587"/>
                  <a:pt x="4857750" y="57150"/>
                </a:cubicBezTo>
                <a:lnTo>
                  <a:pt x="4857750" y="304800"/>
                </a:lnTo>
                <a:cubicBezTo>
                  <a:pt x="4857750" y="336363"/>
                  <a:pt x="4832163" y="361950"/>
                  <a:pt x="480060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BF5EF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984885" y="493776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✓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23962" y="494585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博士论文已采用双面印刷</a:t>
            </a:r>
          </a:p>
        </p:txBody>
      </p:sp>
      <p:sp>
        <p:nvSpPr>
          <p:cNvPr id="36" name="Freeform 36"/>
          <p:cNvSpPr/>
          <p:nvPr/>
        </p:nvSpPr>
        <p:spPr>
          <a:xfrm>
            <a:off x="809625" y="5248275"/>
            <a:ext cx="4857750" cy="361950"/>
          </a:xfrm>
          <a:custGeom>
            <a:avLst/>
            <a:gdLst/>
            <a:ahLst/>
            <a:cxnLst/>
            <a:rect l="l" t="t" r="r" b="b"/>
            <a:pathLst>
              <a:path w="4857750" h="361950">
                <a:moveTo>
                  <a:pt x="57150" y="0"/>
                </a:moveTo>
                <a:lnTo>
                  <a:pt x="4800600" y="0"/>
                </a:lnTo>
                <a:cubicBezTo>
                  <a:pt x="4832163" y="0"/>
                  <a:pt x="4857750" y="25587"/>
                  <a:pt x="4857750" y="57150"/>
                </a:cubicBezTo>
                <a:lnTo>
                  <a:pt x="4857750" y="304800"/>
                </a:lnTo>
                <a:cubicBezTo>
                  <a:pt x="4857750" y="336363"/>
                  <a:pt x="4832163" y="361950"/>
                  <a:pt x="480060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8FAFB"/>
          </a:solidFill>
          <a:ln w="9525">
            <a:solidFill>
              <a:srgbClr val="E2E8F0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84885" y="535686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✓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23962" y="5364956"/>
            <a:ext cx="29860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电子版已向图书馆提交（与纸质版一致）</a:t>
            </a:r>
          </a:p>
        </p:txBody>
      </p:sp>
      <p:sp>
        <p:nvSpPr>
          <p:cNvPr id="39" name="Freeform 39"/>
          <p:cNvSpPr/>
          <p:nvPr/>
        </p:nvSpPr>
        <p:spPr>
          <a:xfrm>
            <a:off x="6286500" y="1000125"/>
            <a:ext cx="5334000" cy="5143500"/>
          </a:xfrm>
          <a:custGeom>
            <a:avLst/>
            <a:gdLst/>
            <a:ahLst/>
            <a:cxnLst/>
            <a:rect l="l" t="t" r="r" b="b"/>
            <a:pathLst>
              <a:path w="5334000" h="51435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5048250"/>
                </a:lnTo>
                <a:cubicBezTo>
                  <a:pt x="5334000" y="5100855"/>
                  <a:pt x="5291355" y="5143500"/>
                  <a:pt x="5238750" y="5143500"/>
                </a:cubicBezTo>
                <a:lnTo>
                  <a:pt x="95250" y="5143500"/>
                </a:lnTo>
                <a:cubicBezTo>
                  <a:pt x="42645" y="5143500"/>
                  <a:pt x="0" y="5100855"/>
                  <a:pt x="0" y="5048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2E8F0"/>
            </a:solidFill>
          </a:ln>
        </p:spPr>
      </p:sp>
      <p:sp>
        <p:nvSpPr>
          <p:cNvPr id="40" name="Freeform 40"/>
          <p:cNvSpPr/>
          <p:nvPr/>
        </p:nvSpPr>
        <p:spPr>
          <a:xfrm>
            <a:off x="6286500" y="1000125"/>
            <a:ext cx="5334000" cy="76200"/>
          </a:xfrm>
          <a:custGeom>
            <a:avLst/>
            <a:gdLst/>
            <a:ahLst/>
            <a:cxnLst/>
            <a:rect l="l" t="t" r="r" b="b"/>
            <a:pathLst>
              <a:path w="5334000" h="76200">
                <a:moveTo>
                  <a:pt x="47625" y="0"/>
                </a:moveTo>
                <a:lnTo>
                  <a:pt x="5286375" y="0"/>
                </a:lnTo>
                <a:cubicBezTo>
                  <a:pt x="5312678" y="0"/>
                  <a:pt x="5334000" y="17058"/>
                  <a:pt x="5334000" y="38100"/>
                </a:cubicBezTo>
                <a:lnTo>
                  <a:pt x="5334000" y="38100"/>
                </a:lnTo>
                <a:cubicBezTo>
                  <a:pt x="5334000" y="59142"/>
                  <a:pt x="5312678" y="76200"/>
                  <a:pt x="5286375" y="76200"/>
                </a:cubicBezTo>
                <a:lnTo>
                  <a:pt x="47625" y="76200"/>
                </a:lnTo>
                <a:cubicBezTo>
                  <a:pt x="21322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21322" y="0"/>
                  <a:pt x="47625" y="0"/>
                </a:cubicBezTo>
                <a:close/>
              </a:path>
            </a:pathLst>
          </a:custGeom>
          <a:solidFill>
            <a:srgbClr val="2E8A50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403263" y="1197292"/>
            <a:ext cx="11004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8A50"/>
                </a:solidFill>
                <a:latin typeface="Segoe UI"/>
                <a:ea typeface="Microsoft YaHei"/>
                <a:cs typeface="Segoe UI"/>
              </a:rPr>
              <a:t>排版 &amp; 内容</a:t>
            </a:r>
          </a:p>
        </p:txBody>
      </p:sp>
      <p:sp>
        <p:nvSpPr>
          <p:cNvPr id="42" name="Freeform 42"/>
          <p:cNvSpPr/>
          <p:nvPr/>
        </p:nvSpPr>
        <p:spPr>
          <a:xfrm>
            <a:off x="6524625" y="1476375"/>
            <a:ext cx="4857750" cy="361950"/>
          </a:xfrm>
          <a:custGeom>
            <a:avLst/>
            <a:gdLst/>
            <a:ahLst/>
            <a:cxnLst/>
            <a:rect l="l" t="t" r="r" b="b"/>
            <a:pathLst>
              <a:path w="4857750" h="361950">
                <a:moveTo>
                  <a:pt x="57150" y="0"/>
                </a:moveTo>
                <a:lnTo>
                  <a:pt x="4800600" y="0"/>
                </a:lnTo>
                <a:cubicBezTo>
                  <a:pt x="4832163" y="0"/>
                  <a:pt x="4857750" y="25587"/>
                  <a:pt x="4857750" y="57150"/>
                </a:cubicBezTo>
                <a:lnTo>
                  <a:pt x="4857750" y="304800"/>
                </a:lnTo>
                <a:cubicBezTo>
                  <a:pt x="4857750" y="336363"/>
                  <a:pt x="4832163" y="361950"/>
                  <a:pt x="480060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BF5EF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6699885" y="158496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✓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938962" y="1593056"/>
            <a:ext cx="30764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字体字号符合规范（硕士小四/博士五号）</a:t>
            </a:r>
          </a:p>
        </p:txBody>
      </p:sp>
      <p:sp>
        <p:nvSpPr>
          <p:cNvPr id="45" name="Freeform 45"/>
          <p:cNvSpPr/>
          <p:nvPr/>
        </p:nvSpPr>
        <p:spPr>
          <a:xfrm>
            <a:off x="6524625" y="1895475"/>
            <a:ext cx="4857750" cy="361950"/>
          </a:xfrm>
          <a:custGeom>
            <a:avLst/>
            <a:gdLst/>
            <a:ahLst/>
            <a:cxnLst/>
            <a:rect l="l" t="t" r="r" b="b"/>
            <a:pathLst>
              <a:path w="4857750" h="361950">
                <a:moveTo>
                  <a:pt x="57150" y="0"/>
                </a:moveTo>
                <a:lnTo>
                  <a:pt x="4800600" y="0"/>
                </a:lnTo>
                <a:cubicBezTo>
                  <a:pt x="4832163" y="0"/>
                  <a:pt x="4857750" y="25587"/>
                  <a:pt x="4857750" y="57150"/>
                </a:cubicBezTo>
                <a:lnTo>
                  <a:pt x="4857750" y="304800"/>
                </a:lnTo>
                <a:cubicBezTo>
                  <a:pt x="4857750" y="336363"/>
                  <a:pt x="4832163" y="361950"/>
                  <a:pt x="480060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8FAFB"/>
          </a:solidFill>
          <a:ln w="9525">
            <a:solidFill>
              <a:srgbClr val="E2E8F0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6699885" y="200406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✓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938962" y="2012156"/>
            <a:ext cx="263282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行距设置正确（硕 1.25 / 博 19 磅）</a:t>
            </a:r>
          </a:p>
        </p:txBody>
      </p:sp>
      <p:sp>
        <p:nvSpPr>
          <p:cNvPr id="48" name="Freeform 48"/>
          <p:cNvSpPr/>
          <p:nvPr/>
        </p:nvSpPr>
        <p:spPr>
          <a:xfrm>
            <a:off x="6524625" y="2314575"/>
            <a:ext cx="4857750" cy="361950"/>
          </a:xfrm>
          <a:custGeom>
            <a:avLst/>
            <a:gdLst/>
            <a:ahLst/>
            <a:cxnLst/>
            <a:rect l="l" t="t" r="r" b="b"/>
            <a:pathLst>
              <a:path w="4857750" h="361950">
                <a:moveTo>
                  <a:pt x="57150" y="0"/>
                </a:moveTo>
                <a:lnTo>
                  <a:pt x="4800600" y="0"/>
                </a:lnTo>
                <a:cubicBezTo>
                  <a:pt x="4832163" y="0"/>
                  <a:pt x="4857750" y="25587"/>
                  <a:pt x="4857750" y="57150"/>
                </a:cubicBezTo>
                <a:lnTo>
                  <a:pt x="4857750" y="304800"/>
                </a:lnTo>
                <a:cubicBezTo>
                  <a:pt x="4857750" y="336363"/>
                  <a:pt x="4832163" y="361950"/>
                  <a:pt x="480060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BF5EF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6699885" y="242316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✓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938962" y="2431256"/>
            <a:ext cx="24192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页边距设置正确（硕/博有区别）</a:t>
            </a:r>
          </a:p>
        </p:txBody>
      </p:sp>
      <p:sp>
        <p:nvSpPr>
          <p:cNvPr id="51" name="Freeform 51"/>
          <p:cNvSpPr/>
          <p:nvPr/>
        </p:nvSpPr>
        <p:spPr>
          <a:xfrm>
            <a:off x="6524625" y="2733675"/>
            <a:ext cx="4857750" cy="361950"/>
          </a:xfrm>
          <a:custGeom>
            <a:avLst/>
            <a:gdLst/>
            <a:ahLst/>
            <a:cxnLst/>
            <a:rect l="l" t="t" r="r" b="b"/>
            <a:pathLst>
              <a:path w="4857750" h="361950">
                <a:moveTo>
                  <a:pt x="57150" y="0"/>
                </a:moveTo>
                <a:lnTo>
                  <a:pt x="4800600" y="0"/>
                </a:lnTo>
                <a:cubicBezTo>
                  <a:pt x="4832163" y="0"/>
                  <a:pt x="4857750" y="25587"/>
                  <a:pt x="4857750" y="57150"/>
                </a:cubicBezTo>
                <a:lnTo>
                  <a:pt x="4857750" y="304800"/>
                </a:lnTo>
                <a:cubicBezTo>
                  <a:pt x="4857750" y="336363"/>
                  <a:pt x="4832163" y="361950"/>
                  <a:pt x="480060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8FAFB"/>
          </a:solidFill>
          <a:ln w="9525">
            <a:solidFill>
              <a:srgbClr val="E2E8F0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6699885" y="284226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✓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938962" y="2850356"/>
            <a:ext cx="28299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图表编号格式统一（图 X.X / 表 X.X）</a:t>
            </a:r>
          </a:p>
        </p:txBody>
      </p:sp>
      <p:sp>
        <p:nvSpPr>
          <p:cNvPr id="54" name="Freeform 54"/>
          <p:cNvSpPr/>
          <p:nvPr/>
        </p:nvSpPr>
        <p:spPr>
          <a:xfrm>
            <a:off x="6524625" y="3152775"/>
            <a:ext cx="4857750" cy="361950"/>
          </a:xfrm>
          <a:custGeom>
            <a:avLst/>
            <a:gdLst/>
            <a:ahLst/>
            <a:cxnLst/>
            <a:rect l="l" t="t" r="r" b="b"/>
            <a:pathLst>
              <a:path w="4857750" h="361950">
                <a:moveTo>
                  <a:pt x="57150" y="0"/>
                </a:moveTo>
                <a:lnTo>
                  <a:pt x="4800600" y="0"/>
                </a:lnTo>
                <a:cubicBezTo>
                  <a:pt x="4832163" y="0"/>
                  <a:pt x="4857750" y="25587"/>
                  <a:pt x="4857750" y="57150"/>
                </a:cubicBezTo>
                <a:lnTo>
                  <a:pt x="4857750" y="304800"/>
                </a:lnTo>
                <a:cubicBezTo>
                  <a:pt x="4857750" y="336363"/>
                  <a:pt x="4832163" y="361950"/>
                  <a:pt x="480060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BF5EF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6699885" y="326136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✓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938962" y="3269456"/>
            <a:ext cx="24931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图题在图下，表题在表上，均居中</a:t>
            </a:r>
          </a:p>
        </p:txBody>
      </p:sp>
      <p:sp>
        <p:nvSpPr>
          <p:cNvPr id="57" name="Freeform 57"/>
          <p:cNvSpPr/>
          <p:nvPr/>
        </p:nvSpPr>
        <p:spPr>
          <a:xfrm>
            <a:off x="6524625" y="3571875"/>
            <a:ext cx="4857750" cy="361950"/>
          </a:xfrm>
          <a:custGeom>
            <a:avLst/>
            <a:gdLst/>
            <a:ahLst/>
            <a:cxnLst/>
            <a:rect l="l" t="t" r="r" b="b"/>
            <a:pathLst>
              <a:path w="4857750" h="361950">
                <a:moveTo>
                  <a:pt x="57150" y="0"/>
                </a:moveTo>
                <a:lnTo>
                  <a:pt x="4800600" y="0"/>
                </a:lnTo>
                <a:cubicBezTo>
                  <a:pt x="4832163" y="0"/>
                  <a:pt x="4857750" y="25587"/>
                  <a:pt x="4857750" y="57150"/>
                </a:cubicBezTo>
                <a:lnTo>
                  <a:pt x="4857750" y="304800"/>
                </a:lnTo>
                <a:cubicBezTo>
                  <a:pt x="4857750" y="336363"/>
                  <a:pt x="4832163" y="361950"/>
                  <a:pt x="480060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8FAFB"/>
          </a:solidFill>
          <a:ln w="9525">
            <a:solidFill>
              <a:srgbClr val="E2E8F0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6699885" y="368046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✓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938962" y="3688556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公式编号在行末右侧圆括号内</a:t>
            </a:r>
          </a:p>
        </p:txBody>
      </p:sp>
      <p:sp>
        <p:nvSpPr>
          <p:cNvPr id="60" name="Freeform 60"/>
          <p:cNvSpPr/>
          <p:nvPr/>
        </p:nvSpPr>
        <p:spPr>
          <a:xfrm>
            <a:off x="6524625" y="3990975"/>
            <a:ext cx="4857750" cy="361950"/>
          </a:xfrm>
          <a:custGeom>
            <a:avLst/>
            <a:gdLst/>
            <a:ahLst/>
            <a:cxnLst/>
            <a:rect l="l" t="t" r="r" b="b"/>
            <a:pathLst>
              <a:path w="4857750" h="361950">
                <a:moveTo>
                  <a:pt x="57150" y="0"/>
                </a:moveTo>
                <a:lnTo>
                  <a:pt x="4800600" y="0"/>
                </a:lnTo>
                <a:cubicBezTo>
                  <a:pt x="4832163" y="0"/>
                  <a:pt x="4857750" y="25587"/>
                  <a:pt x="4857750" y="57150"/>
                </a:cubicBezTo>
                <a:lnTo>
                  <a:pt x="4857750" y="304800"/>
                </a:lnTo>
                <a:cubicBezTo>
                  <a:pt x="4857750" y="336363"/>
                  <a:pt x="4832163" y="361950"/>
                  <a:pt x="480060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BF5EF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699885" y="409956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✓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938962" y="4107656"/>
            <a:ext cx="24931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参考文献顺序编码，格式全文一致</a:t>
            </a:r>
          </a:p>
        </p:txBody>
      </p:sp>
      <p:sp>
        <p:nvSpPr>
          <p:cNvPr id="63" name="Freeform 63"/>
          <p:cNvSpPr/>
          <p:nvPr/>
        </p:nvSpPr>
        <p:spPr>
          <a:xfrm>
            <a:off x="6524625" y="4410075"/>
            <a:ext cx="4857750" cy="361950"/>
          </a:xfrm>
          <a:custGeom>
            <a:avLst/>
            <a:gdLst/>
            <a:ahLst/>
            <a:cxnLst/>
            <a:rect l="l" t="t" r="r" b="b"/>
            <a:pathLst>
              <a:path w="4857750" h="361950">
                <a:moveTo>
                  <a:pt x="57150" y="0"/>
                </a:moveTo>
                <a:lnTo>
                  <a:pt x="4800600" y="0"/>
                </a:lnTo>
                <a:cubicBezTo>
                  <a:pt x="4832163" y="0"/>
                  <a:pt x="4857750" y="25587"/>
                  <a:pt x="4857750" y="57150"/>
                </a:cubicBezTo>
                <a:lnTo>
                  <a:pt x="4857750" y="304800"/>
                </a:lnTo>
                <a:cubicBezTo>
                  <a:pt x="4857750" y="336363"/>
                  <a:pt x="4832163" y="361950"/>
                  <a:pt x="480060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8FAFB"/>
          </a:solidFill>
          <a:ln w="9525">
            <a:solidFill>
              <a:srgbClr val="E2E8F0"/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6699885" y="451866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✓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938962" y="4526756"/>
            <a:ext cx="24356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注释采用脚注，每页重新编号①②③</a:t>
            </a:r>
          </a:p>
        </p:txBody>
      </p:sp>
      <p:sp>
        <p:nvSpPr>
          <p:cNvPr id="66" name="Freeform 66"/>
          <p:cNvSpPr/>
          <p:nvPr/>
        </p:nvSpPr>
        <p:spPr>
          <a:xfrm>
            <a:off x="6524625" y="4829175"/>
            <a:ext cx="4857750" cy="361950"/>
          </a:xfrm>
          <a:custGeom>
            <a:avLst/>
            <a:gdLst/>
            <a:ahLst/>
            <a:cxnLst/>
            <a:rect l="l" t="t" r="r" b="b"/>
            <a:pathLst>
              <a:path w="4857750" h="361950">
                <a:moveTo>
                  <a:pt x="57150" y="0"/>
                </a:moveTo>
                <a:lnTo>
                  <a:pt x="4800600" y="0"/>
                </a:lnTo>
                <a:cubicBezTo>
                  <a:pt x="4832163" y="0"/>
                  <a:pt x="4857750" y="25587"/>
                  <a:pt x="4857750" y="57150"/>
                </a:cubicBezTo>
                <a:lnTo>
                  <a:pt x="4857750" y="304800"/>
                </a:lnTo>
                <a:cubicBezTo>
                  <a:pt x="4857750" y="336363"/>
                  <a:pt x="4832163" y="361950"/>
                  <a:pt x="480060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BF5EF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6699885" y="493776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B6B3A"/>
                </a:solidFill>
                <a:latin typeface="Segoe UI"/>
                <a:ea typeface="Microsoft YaHei"/>
                <a:cs typeface="Segoe UI"/>
              </a:rPr>
              <a:t>✓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938962" y="4945856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首行均缩进两字符</a:t>
            </a:r>
          </a:p>
        </p:txBody>
      </p:sp>
      <p:sp>
        <p:nvSpPr>
          <p:cNvPr id="69" name="Freeform 69"/>
          <p:cNvSpPr/>
          <p:nvPr/>
        </p:nvSpPr>
        <p:spPr>
          <a:xfrm>
            <a:off x="6524625" y="5248275"/>
            <a:ext cx="4857750" cy="361950"/>
          </a:xfrm>
          <a:custGeom>
            <a:avLst/>
            <a:gdLst/>
            <a:ahLst/>
            <a:cxnLst/>
            <a:rect l="l" t="t" r="r" b="b"/>
            <a:pathLst>
              <a:path w="4857750" h="361950">
                <a:moveTo>
                  <a:pt x="57150" y="0"/>
                </a:moveTo>
                <a:lnTo>
                  <a:pt x="4800600" y="0"/>
                </a:lnTo>
                <a:cubicBezTo>
                  <a:pt x="4832163" y="0"/>
                  <a:pt x="4857750" y="25587"/>
                  <a:pt x="4857750" y="57150"/>
                </a:cubicBezTo>
                <a:lnTo>
                  <a:pt x="4857750" y="304800"/>
                </a:lnTo>
                <a:cubicBezTo>
                  <a:pt x="4857750" y="336363"/>
                  <a:pt x="4832163" y="361950"/>
                  <a:pt x="480060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EF9E8"/>
          </a:solidFill>
          <a:ln w="9525">
            <a:solidFill>
              <a:srgbClr val="FED7A0"/>
            </a:solidFill>
          </a:ln>
        </p:spPr>
      </p:sp>
      <p:sp>
        <p:nvSpPr>
          <p:cNvPr id="70" name="TextBox 70"/>
          <p:cNvSpPr txBox="1"/>
          <p:nvPr/>
        </p:nvSpPr>
        <p:spPr>
          <a:xfrm>
            <a:off x="6699885" y="535686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4A017"/>
                </a:solidFill>
                <a:latin typeface="Segoe UI"/>
                <a:ea typeface="Microsoft YaHei"/>
                <a:cs typeface="Segoe UI"/>
              </a:rPr>
              <a:t>✓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6938962" y="5364956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博士：攻读期发表论著已附录</a:t>
            </a:r>
          </a:p>
        </p:txBody>
      </p:sp>
      <p:sp>
        <p:nvSpPr>
          <p:cNvPr id="72" name="Freeform 72"/>
          <p:cNvSpPr/>
          <p:nvPr/>
        </p:nvSpPr>
        <p:spPr>
          <a:xfrm>
            <a:off x="571500" y="6267450"/>
            <a:ext cx="11049000" cy="438150"/>
          </a:xfrm>
          <a:custGeom>
            <a:avLst/>
            <a:gdLst/>
            <a:ahLst/>
            <a:cxnLst/>
            <a:rect l="l" t="t" r="r" b="b"/>
            <a:pathLst>
              <a:path w="11049000" h="4381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361950"/>
                </a:lnTo>
                <a:cubicBezTo>
                  <a:pt x="11049000" y="404034"/>
                  <a:pt x="11014884" y="438150"/>
                  <a:pt x="10972800" y="438150"/>
                </a:cubicBezTo>
                <a:lnTo>
                  <a:pt x="76200" y="438150"/>
                </a:lnTo>
                <a:cubicBezTo>
                  <a:pt x="34116" y="438150"/>
                  <a:pt x="0" y="404034"/>
                  <a:pt x="0" y="3619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B6B3A"/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4052125" y="6404610"/>
            <a:ext cx="40877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完成所有项目检查后，方可提交论文 · 祝答辩顺利！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